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revisionInfo.xml" ContentType="application/vnd.ms-powerpoint.revisioninfo+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5"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444E2E-AD59-4925-84E2-A9762D9A3A9C}" v="408" dt="2025-12-12T19:48:05.4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20000" autoAdjust="0"/>
    <p:restoredTop sz="94660" autoAdjust="0"/>
  </p:normalViewPr>
  <p:slideViewPr>
    <p:cSldViewPr snapToGrid="0">
      <p:cViewPr varScale="1">
        <p:scale>
          <a:sx n="73" d="100"/>
          <a:sy n="73" d="100"/>
        </p:scale>
        <p:origin x="-420" y="-102"/>
      </p:cViewPr>
      <p:guideLst>
        <p:guide orient="horz" pos="2160"/>
        <p:guide pos="3840"/>
      </p:guideLst>
    </p:cSldViewPr>
  </p:slideViewPr>
  <p:outlineViewPr>
    <p:cViewPr>
      <p:scale>
        <a:sx n="33" d="100"/>
        <a:sy n="33" d="100"/>
      </p:scale>
      <p:origin x="0" y="6888"/>
    </p:cViewPr>
  </p:outlin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xmlns="" id="{EA67E988-5919-57BB-C7DE-D3EAD38A3045}"/>
              </a:ext>
              <a:ext uri="{C183D7F6-B498-43B3-948B-1728B52AA6E4}">
                <adec:decorative xmlns:adec="http://schemas.microsoft.com/office/drawing/2017/decorative" xmlns=""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xmlns=""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xmlns=""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C67DC221-9A2E-7459-102F-C3CFB27CC389}"/>
              </a:ext>
            </a:extLst>
          </p:cNvPr>
          <p:cNvSpPr>
            <a:spLocks noGrp="1"/>
          </p:cNvSpPr>
          <p:nvPr>
            <p:ph type="dt" sz="half" idx="10"/>
          </p:nvPr>
        </p:nvSpPr>
        <p:spPr/>
        <p:txBody>
          <a:bodyPr/>
          <a:lstStyle/>
          <a:p>
            <a:fld id="{E80C50CD-E178-4744-9B35-B2F624D6C5E9}" type="datetimeFigureOut">
              <a:rPr lang="en-US" smtClean="0"/>
              <a:pPr/>
              <a:t>12/13/2025</a:t>
            </a:fld>
            <a:endParaRPr lang="en-US"/>
          </a:p>
        </p:txBody>
      </p:sp>
      <p:sp>
        <p:nvSpPr>
          <p:cNvPr id="5" name="Footer Placeholder 4">
            <a:extLst>
              <a:ext uri="{FF2B5EF4-FFF2-40B4-BE49-F238E27FC236}">
                <a16:creationId xmlns:a16="http://schemas.microsoft.com/office/drawing/2014/main" xmlns=""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F2453D3A-E0F9-8386-2A6C-96671FBB15A5}"/>
              </a:ext>
            </a:extLst>
          </p:cNvPr>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xmlns="" val="31799179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F8BB2A3F-E719-673C-5D56-F663712D0E7F}"/>
              </a:ext>
            </a:extLst>
          </p:cNvPr>
          <p:cNvSpPr>
            <a:spLocks noGrp="1"/>
          </p:cNvSpPr>
          <p:nvPr>
            <p:ph type="dt" sz="half" idx="10"/>
          </p:nvPr>
        </p:nvSpPr>
        <p:spPr/>
        <p:txBody>
          <a:bodyPr/>
          <a:lstStyle/>
          <a:p>
            <a:fld id="{E80C50CD-E178-4744-9B35-B2F624D6C5E9}" type="datetimeFigureOut">
              <a:rPr lang="en-US" smtClean="0"/>
              <a:pPr/>
              <a:t>12/13/2025</a:t>
            </a:fld>
            <a:endParaRPr lang="en-US"/>
          </a:p>
        </p:txBody>
      </p:sp>
      <p:sp>
        <p:nvSpPr>
          <p:cNvPr id="5" name="Footer Placeholder 4">
            <a:extLst>
              <a:ext uri="{FF2B5EF4-FFF2-40B4-BE49-F238E27FC236}">
                <a16:creationId xmlns:a16="http://schemas.microsoft.com/office/drawing/2014/main" xmlns=""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207D5C9C-B2E2-FC26-E459-9E880EF975BA}"/>
              </a:ext>
            </a:extLst>
          </p:cNvPr>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xmlns="" val="1254110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xmlns=""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xmlns="" id="{50ECB4D7-49A7-D050-70B9-11A1E2D445D8}"/>
              </a:ext>
            </a:extLst>
          </p:cNvPr>
          <p:cNvSpPr>
            <a:spLocks noGrp="1"/>
          </p:cNvSpPr>
          <p:nvPr>
            <p:ph type="dt" sz="half" idx="10"/>
          </p:nvPr>
        </p:nvSpPr>
        <p:spPr/>
        <p:txBody>
          <a:bodyPr/>
          <a:lstStyle/>
          <a:p>
            <a:fld id="{E80C50CD-E178-4744-9B35-B2F624D6C5E9}" type="datetimeFigureOut">
              <a:rPr lang="en-US" smtClean="0"/>
              <a:pPr/>
              <a:t>12/13/2025</a:t>
            </a:fld>
            <a:endParaRPr lang="en-US"/>
          </a:p>
        </p:txBody>
      </p:sp>
      <p:sp>
        <p:nvSpPr>
          <p:cNvPr id="5" name="Footer Placeholder 4">
            <a:extLst>
              <a:ext uri="{FF2B5EF4-FFF2-40B4-BE49-F238E27FC236}">
                <a16:creationId xmlns:a16="http://schemas.microsoft.com/office/drawing/2014/main" xmlns=""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314FC386-B2AF-6FAD-D053-E22D48CD7285}"/>
              </a:ext>
            </a:extLst>
          </p:cNvPr>
          <p:cNvSpPr>
            <a:spLocks noGrp="1"/>
          </p:cNvSpPr>
          <p:nvPr>
            <p:ph type="sldNum" sz="quarter" idx="12"/>
          </p:nvPr>
        </p:nvSpPr>
        <p:spPr/>
        <p:txBody>
          <a:bodyPr/>
          <a:lstStyle/>
          <a:p>
            <a:fld id="{148CC95F-0247-41B6-91CF-DC97C76A7088}" type="slidenum">
              <a:rPr lang="en-US" smtClean="0"/>
              <a:pPr/>
              <a:t>‹#›</a:t>
            </a:fld>
            <a:endParaRPr lang="en-US"/>
          </a:p>
        </p:txBody>
      </p:sp>
      <p:sp>
        <p:nvSpPr>
          <p:cNvPr id="7" name="Rectangle 6">
            <a:extLst>
              <a:ext uri="{FF2B5EF4-FFF2-40B4-BE49-F238E27FC236}">
                <a16:creationId xmlns:a16="http://schemas.microsoft.com/office/drawing/2014/main" xmlns=""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38227795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xmlns=""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515BED99-6FD7-9C6B-1152-A6E42715BB79}"/>
              </a:ext>
            </a:extLst>
          </p:cNvPr>
          <p:cNvSpPr>
            <a:spLocks noGrp="1"/>
          </p:cNvSpPr>
          <p:nvPr>
            <p:ph type="dt" sz="half" idx="10"/>
          </p:nvPr>
        </p:nvSpPr>
        <p:spPr/>
        <p:txBody>
          <a:bodyPr/>
          <a:lstStyle/>
          <a:p>
            <a:fld id="{E80C50CD-E178-4744-9B35-B2F624D6C5E9}" type="datetimeFigureOut">
              <a:rPr lang="en-US" smtClean="0"/>
              <a:pPr/>
              <a:t>12/13/2025</a:t>
            </a:fld>
            <a:endParaRPr lang="en-US"/>
          </a:p>
        </p:txBody>
      </p:sp>
      <p:sp>
        <p:nvSpPr>
          <p:cNvPr id="6" name="Footer Placeholder 5">
            <a:extLst>
              <a:ext uri="{FF2B5EF4-FFF2-40B4-BE49-F238E27FC236}">
                <a16:creationId xmlns:a16="http://schemas.microsoft.com/office/drawing/2014/main" xmlns=""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A4B51313-69FB-E016-3CC1-62CA476ED214}"/>
              </a:ext>
            </a:extLst>
          </p:cNvPr>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xmlns="" val="28637584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xmlns=""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xmlns=""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xmlns=""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xmlns="" id="{23010BD2-59B4-FD2E-3C5E-C83AE6003985}"/>
              </a:ext>
            </a:extLst>
          </p:cNvPr>
          <p:cNvSpPr>
            <a:spLocks noGrp="1"/>
          </p:cNvSpPr>
          <p:nvPr>
            <p:ph type="dt" sz="half" idx="10"/>
          </p:nvPr>
        </p:nvSpPr>
        <p:spPr/>
        <p:txBody>
          <a:bodyPr/>
          <a:lstStyle/>
          <a:p>
            <a:fld id="{E80C50CD-E178-4744-9B35-B2F624D6C5E9}" type="datetimeFigureOut">
              <a:rPr lang="en-US" smtClean="0"/>
              <a:pPr/>
              <a:t>12/13/2025</a:t>
            </a:fld>
            <a:endParaRPr lang="en-US"/>
          </a:p>
        </p:txBody>
      </p:sp>
      <p:sp>
        <p:nvSpPr>
          <p:cNvPr id="8" name="Footer Placeholder 7">
            <a:extLst>
              <a:ext uri="{FF2B5EF4-FFF2-40B4-BE49-F238E27FC236}">
                <a16:creationId xmlns:a16="http://schemas.microsoft.com/office/drawing/2014/main" xmlns=""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F55F4347-2EC0-CA6E-2637-8048456D7ECB}"/>
              </a:ext>
            </a:extLst>
          </p:cNvPr>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xmlns="" val="5377540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xmlns="" id="{56F4A371-AC27-6A28-32E6-74A28371BF55}"/>
              </a:ext>
            </a:extLst>
          </p:cNvPr>
          <p:cNvSpPr>
            <a:spLocks noGrp="1"/>
          </p:cNvSpPr>
          <p:nvPr>
            <p:ph type="dt" sz="half" idx="10"/>
          </p:nvPr>
        </p:nvSpPr>
        <p:spPr/>
        <p:txBody>
          <a:bodyPr/>
          <a:lstStyle/>
          <a:p>
            <a:fld id="{E80C50CD-E178-4744-9B35-B2F624D6C5E9}" type="datetimeFigureOut">
              <a:rPr lang="en-US" smtClean="0"/>
              <a:pPr/>
              <a:t>12/13/2025</a:t>
            </a:fld>
            <a:endParaRPr lang="en-US"/>
          </a:p>
        </p:txBody>
      </p:sp>
      <p:sp>
        <p:nvSpPr>
          <p:cNvPr id="4" name="Footer Placeholder 3">
            <a:extLst>
              <a:ext uri="{FF2B5EF4-FFF2-40B4-BE49-F238E27FC236}">
                <a16:creationId xmlns:a16="http://schemas.microsoft.com/office/drawing/2014/main" xmlns=""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99D5E5B4-971F-FF6A-1B07-A5C85370552D}"/>
              </a:ext>
            </a:extLst>
          </p:cNvPr>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xmlns="" val="39951856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199F431F-E6DC-4137-3092-A30A0A3628EC}"/>
              </a:ext>
            </a:extLst>
          </p:cNvPr>
          <p:cNvSpPr>
            <a:spLocks noGrp="1"/>
          </p:cNvSpPr>
          <p:nvPr>
            <p:ph type="dt" sz="half" idx="10"/>
          </p:nvPr>
        </p:nvSpPr>
        <p:spPr/>
        <p:txBody>
          <a:bodyPr/>
          <a:lstStyle/>
          <a:p>
            <a:fld id="{E80C50CD-E178-4744-9B35-B2F624D6C5E9}" type="datetimeFigureOut">
              <a:rPr lang="en-US" smtClean="0"/>
              <a:pPr/>
              <a:t>12/13/2025</a:t>
            </a:fld>
            <a:endParaRPr lang="en-US"/>
          </a:p>
        </p:txBody>
      </p:sp>
      <p:sp>
        <p:nvSpPr>
          <p:cNvPr id="3" name="Footer Placeholder 2">
            <a:extLst>
              <a:ext uri="{FF2B5EF4-FFF2-40B4-BE49-F238E27FC236}">
                <a16:creationId xmlns:a16="http://schemas.microsoft.com/office/drawing/2014/main" xmlns=""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91EAA9C9-D895-DD20-1089-EA75EA428951}"/>
              </a:ext>
            </a:extLst>
          </p:cNvPr>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xmlns="" val="39928498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xmlns=""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xmlns=""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02A95F79-E23E-11D2-40BF-66ED340195DB}"/>
              </a:ext>
            </a:extLst>
          </p:cNvPr>
          <p:cNvSpPr>
            <a:spLocks noGrp="1"/>
          </p:cNvSpPr>
          <p:nvPr>
            <p:ph type="dt" sz="half" idx="10"/>
          </p:nvPr>
        </p:nvSpPr>
        <p:spPr/>
        <p:txBody>
          <a:bodyPr/>
          <a:lstStyle/>
          <a:p>
            <a:fld id="{E80C50CD-E178-4744-9B35-B2F624D6C5E9}" type="datetimeFigureOut">
              <a:rPr lang="en-US" smtClean="0"/>
              <a:pPr/>
              <a:t>12/13/2025</a:t>
            </a:fld>
            <a:endParaRPr lang="en-US"/>
          </a:p>
        </p:txBody>
      </p:sp>
      <p:sp>
        <p:nvSpPr>
          <p:cNvPr id="6" name="Footer Placeholder 5">
            <a:extLst>
              <a:ext uri="{FF2B5EF4-FFF2-40B4-BE49-F238E27FC236}">
                <a16:creationId xmlns:a16="http://schemas.microsoft.com/office/drawing/2014/main" xmlns=""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9554ACD5-6E0B-5713-DC9A-41E9D62AB12D}"/>
              </a:ext>
            </a:extLst>
          </p:cNvPr>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xmlns="" val="41702080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xmlns=""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97327DDB-CE95-4C89-DFC5-7DDBFC24E89C}"/>
              </a:ext>
            </a:extLst>
          </p:cNvPr>
          <p:cNvSpPr>
            <a:spLocks noGrp="1"/>
          </p:cNvSpPr>
          <p:nvPr>
            <p:ph type="dt" sz="half" idx="10"/>
          </p:nvPr>
        </p:nvSpPr>
        <p:spPr/>
        <p:txBody>
          <a:bodyPr/>
          <a:lstStyle/>
          <a:p>
            <a:fld id="{E80C50CD-E178-4744-9B35-B2F624D6C5E9}" type="datetimeFigureOut">
              <a:rPr lang="en-US" smtClean="0"/>
              <a:pPr/>
              <a:t>12/13/2025</a:t>
            </a:fld>
            <a:endParaRPr lang="en-US"/>
          </a:p>
        </p:txBody>
      </p:sp>
      <p:sp>
        <p:nvSpPr>
          <p:cNvPr id="6" name="Footer Placeholder 5">
            <a:extLst>
              <a:ext uri="{FF2B5EF4-FFF2-40B4-BE49-F238E27FC236}">
                <a16:creationId xmlns:a16="http://schemas.microsoft.com/office/drawing/2014/main" xmlns=""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68709891-6E3C-ADED-01DD-15FCED37AF4A}"/>
              </a:ext>
            </a:extLst>
          </p:cNvPr>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xmlns="" val="35937355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2CE5D2E7-C856-F78A-E88C-375474982A5F}"/>
              </a:ext>
            </a:extLst>
          </p:cNvPr>
          <p:cNvSpPr>
            <a:spLocks noGrp="1"/>
          </p:cNvSpPr>
          <p:nvPr>
            <p:ph type="dt" sz="half" idx="10"/>
          </p:nvPr>
        </p:nvSpPr>
        <p:spPr/>
        <p:txBody>
          <a:bodyPr/>
          <a:lstStyle/>
          <a:p>
            <a:fld id="{E80C50CD-E178-4744-9B35-B2F624D6C5E9}" type="datetimeFigureOut">
              <a:rPr lang="en-US" smtClean="0"/>
              <a:pPr/>
              <a:t>12/13/2025</a:t>
            </a:fld>
            <a:endParaRPr lang="en-US"/>
          </a:p>
        </p:txBody>
      </p:sp>
      <p:sp>
        <p:nvSpPr>
          <p:cNvPr id="5" name="Footer Placeholder 4">
            <a:extLst>
              <a:ext uri="{FF2B5EF4-FFF2-40B4-BE49-F238E27FC236}">
                <a16:creationId xmlns:a16="http://schemas.microsoft.com/office/drawing/2014/main" xmlns=""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27FE037C-790D-7442-8E43-D2740B3952B1}"/>
              </a:ext>
            </a:extLst>
          </p:cNvPr>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xmlns="" val="3294507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xmlns=""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xmlns="" id="{6955F80A-4BA7-8ED8-9A62-B92194272620}"/>
              </a:ext>
            </a:extLst>
          </p:cNvPr>
          <p:cNvSpPr>
            <a:spLocks noGrp="1"/>
          </p:cNvSpPr>
          <p:nvPr>
            <p:ph type="dt" sz="half" idx="10"/>
          </p:nvPr>
        </p:nvSpPr>
        <p:spPr/>
        <p:txBody>
          <a:bodyPr/>
          <a:lstStyle/>
          <a:p>
            <a:fld id="{E80C50CD-E178-4744-9B35-B2F624D6C5E9}" type="datetimeFigureOut">
              <a:rPr lang="en-US" smtClean="0"/>
              <a:pPr/>
              <a:t>12/13/2025</a:t>
            </a:fld>
            <a:endParaRPr lang="en-US"/>
          </a:p>
        </p:txBody>
      </p:sp>
      <p:sp>
        <p:nvSpPr>
          <p:cNvPr id="5" name="Footer Placeholder 4">
            <a:extLst>
              <a:ext uri="{FF2B5EF4-FFF2-40B4-BE49-F238E27FC236}">
                <a16:creationId xmlns:a16="http://schemas.microsoft.com/office/drawing/2014/main" xmlns=""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68919DDB-F89D-4B2D-21A2-82AF1D1023E4}"/>
              </a:ext>
            </a:extLst>
          </p:cNvPr>
          <p:cNvSpPr>
            <a:spLocks noGrp="1"/>
          </p:cNvSpPr>
          <p:nvPr>
            <p:ph type="sldNum" sz="quarter" idx="12"/>
          </p:nvPr>
        </p:nvSpPr>
        <p:spPr/>
        <p:txBody>
          <a:bodyPr/>
          <a:lstStyle/>
          <a:p>
            <a:fld id="{148CC95F-0247-41B6-91CF-DC97C76A7088}" type="slidenum">
              <a:rPr lang="en-US" smtClean="0"/>
              <a:pPr/>
              <a:t>‹#›</a:t>
            </a:fld>
            <a:endParaRPr lang="en-US"/>
          </a:p>
        </p:txBody>
      </p:sp>
      <p:sp>
        <p:nvSpPr>
          <p:cNvPr id="7" name="Rectangle 6">
            <a:extLst>
              <a:ext uri="{FF2B5EF4-FFF2-40B4-BE49-F238E27FC236}">
                <a16:creationId xmlns:a16="http://schemas.microsoft.com/office/drawing/2014/main" xmlns=""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41899555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xmlns=""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xmlns=""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12/13/2025</a:t>
            </a:fld>
            <a:endParaRPr lang="en-US"/>
          </a:p>
        </p:txBody>
      </p:sp>
      <p:sp>
        <p:nvSpPr>
          <p:cNvPr id="5" name="Footer Placeholder 4">
            <a:extLst>
              <a:ext uri="{FF2B5EF4-FFF2-40B4-BE49-F238E27FC236}">
                <a16:creationId xmlns:a16="http://schemas.microsoft.com/office/drawing/2014/main" xmlns=""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xmlns=""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xmlns="" id="{774A975B-A886-5202-0489-6965514A0D14}"/>
              </a:ext>
              <a:ext uri="{C183D7F6-B498-43B3-948B-1728B52AA6E4}">
                <adec:decorative xmlns:adec="http://schemas.microsoft.com/office/drawing/2017/decorative" xmlns=""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xmlns="" val="23387794"/>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78" r:id="rId6"/>
    <p:sldLayoutId id="2147483674" r:id="rId7"/>
    <p:sldLayoutId id="2147483675" r:id="rId8"/>
    <p:sldLayoutId id="2147483676" r:id="rId9"/>
    <p:sldLayoutId id="2147483677" r:id="rId10"/>
    <p:sldLayoutId id="2147483679"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xmlns="" id="{FAF3766F-DEF3-4802-BB0D-7A18EDD9704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517870" y="978408"/>
            <a:ext cx="3465681" cy="2450592"/>
          </a:xfrm>
        </p:spPr>
        <p:txBody>
          <a:bodyPr anchor="t">
            <a:normAutofit fontScale="90000"/>
          </a:bodyPr>
          <a:lstStyle/>
          <a:p>
            <a:r>
              <a:rPr lang="en-US" sz="4800" dirty="0">
                <a:solidFill>
                  <a:schemeClr val="tx2"/>
                </a:solidFill>
              </a:rPr>
              <a:t>Login using Admin credentials</a:t>
            </a:r>
          </a:p>
        </p:txBody>
      </p:sp>
      <p:sp>
        <p:nvSpPr>
          <p:cNvPr id="3" name="Subtitle 2"/>
          <p:cNvSpPr>
            <a:spLocks noGrp="1"/>
          </p:cNvSpPr>
          <p:nvPr>
            <p:ph type="subTitle" idx="1"/>
          </p:nvPr>
        </p:nvSpPr>
        <p:spPr>
          <a:xfrm>
            <a:off x="517870" y="4406871"/>
            <a:ext cx="3465681" cy="1709890"/>
          </a:xfrm>
        </p:spPr>
        <p:txBody>
          <a:bodyPr anchor="t">
            <a:normAutofit/>
          </a:bodyPr>
          <a:lstStyle/>
          <a:p>
            <a:endParaRPr lang="en-US"/>
          </a:p>
        </p:txBody>
      </p:sp>
      <p:sp>
        <p:nvSpPr>
          <p:cNvPr id="38" name="Rectangle 37">
            <a:extLst>
              <a:ext uri="{FF2B5EF4-FFF2-40B4-BE49-F238E27FC236}">
                <a16:creationId xmlns:a16="http://schemas.microsoft.com/office/drawing/2014/main" xmlns="" id="{D91952F0-771E-D2ED-C333-EEED6708B80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517871" y="508090"/>
            <a:ext cx="346642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creenshot of a computer&#10;&#10;AI-generated content may be incorrect.">
            <a:extLst>
              <a:ext uri="{FF2B5EF4-FFF2-40B4-BE49-F238E27FC236}">
                <a16:creationId xmlns:a16="http://schemas.microsoft.com/office/drawing/2014/main" xmlns="" id="{9AFDCA5A-0860-7D8A-1FB0-3E9F1198F62E}"/>
              </a:ext>
            </a:extLst>
          </p:cNvPr>
          <p:cNvPicPr>
            <a:picLocks noChangeAspect="1"/>
          </p:cNvPicPr>
          <p:nvPr/>
        </p:nvPicPr>
        <p:blipFill>
          <a:blip r:embed="rId2"/>
          <a:srcRect l="1949" r="41800" b="-2"/>
          <a:stretch>
            <a:fillRect/>
          </a:stretch>
        </p:blipFill>
        <p:spPr>
          <a:xfrm>
            <a:off x="5277394" y="513596"/>
            <a:ext cx="6429790" cy="580031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9" name="Rectangle 38">
            <a:extLst>
              <a:ext uri="{FF2B5EF4-FFF2-40B4-BE49-F238E27FC236}">
                <a16:creationId xmlns:a16="http://schemas.microsoft.com/office/drawing/2014/main" xmlns="" id="{3FB6D83C-2377-9CAD-A991-9E0B6AF250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521208" y="6299535"/>
            <a:ext cx="3465681"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xmlns=""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xmlns="" id="{774A975B-A886-5202-0489-6965514A0D1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Shape 24">
            <a:extLst>
              <a:ext uri="{FF2B5EF4-FFF2-40B4-BE49-F238E27FC236}">
                <a16:creationId xmlns:a16="http://schemas.microsoft.com/office/drawing/2014/main" xmlns="" id="{EA67E988-5919-57BB-C7DE-D3EAD38A304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26" name="Rectangle 25">
            <a:extLst>
              <a:ext uri="{FF2B5EF4-FFF2-40B4-BE49-F238E27FC236}">
                <a16:creationId xmlns:a16="http://schemas.microsoft.com/office/drawing/2014/main" xmlns="" id="{FAF3766F-DEF3-4802-BB0D-7A18EDD9704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xmlns="" id="{0F18E6E2-1988-C3FF-944C-59CFA204CFD7}"/>
              </a:ext>
            </a:extLst>
          </p:cNvPr>
          <p:cNvSpPr>
            <a:spLocks noGrp="1"/>
          </p:cNvSpPr>
          <p:nvPr>
            <p:ph type="title"/>
          </p:nvPr>
        </p:nvSpPr>
        <p:spPr>
          <a:xfrm>
            <a:off x="517870" y="978408"/>
            <a:ext cx="3465681" cy="2450592"/>
          </a:xfrm>
        </p:spPr>
        <p:txBody>
          <a:bodyPr vert="horz" lIns="91440" tIns="45720" rIns="91440" bIns="45720" rtlCol="0" anchor="t">
            <a:normAutofit/>
          </a:bodyPr>
          <a:lstStyle/>
          <a:p>
            <a:pPr>
              <a:lnSpc>
                <a:spcPct val="90000"/>
              </a:lnSpc>
            </a:pPr>
            <a:r>
              <a:rPr lang="en-US" sz="2600" dirty="0">
                <a:solidFill>
                  <a:schemeClr val="tx2"/>
                </a:solidFill>
              </a:rPr>
              <a:t>Choose the compensation option</a:t>
            </a:r>
            <a:r>
              <a:rPr lang="en-US" sz="2600" dirty="0"/>
              <a:t/>
            </a:r>
            <a:br>
              <a:rPr lang="en-US" sz="2600" dirty="0"/>
            </a:br>
            <a:endParaRPr lang="en-US" sz="2600">
              <a:solidFill>
                <a:schemeClr val="tx2"/>
              </a:solidFill>
            </a:endParaRPr>
          </a:p>
        </p:txBody>
      </p:sp>
      <p:sp>
        <p:nvSpPr>
          <p:cNvPr id="3" name="Text Placeholder 2">
            <a:extLst>
              <a:ext uri="{FF2B5EF4-FFF2-40B4-BE49-F238E27FC236}">
                <a16:creationId xmlns:a16="http://schemas.microsoft.com/office/drawing/2014/main" xmlns="" id="{4F2DF581-4FF3-7131-19B0-904EB7084FBF}"/>
              </a:ext>
            </a:extLst>
          </p:cNvPr>
          <p:cNvSpPr>
            <a:spLocks noGrp="1"/>
          </p:cNvSpPr>
          <p:nvPr>
            <p:ph type="body" idx="1"/>
          </p:nvPr>
        </p:nvSpPr>
        <p:spPr>
          <a:xfrm>
            <a:off x="517870" y="4406871"/>
            <a:ext cx="3465681" cy="1709890"/>
          </a:xfrm>
        </p:spPr>
        <p:txBody>
          <a:bodyPr vert="horz" lIns="91440" tIns="45720" rIns="91440" bIns="45720" rtlCol="0" anchor="t">
            <a:normAutofit/>
          </a:bodyPr>
          <a:lstStyle/>
          <a:p>
            <a:pPr>
              <a:lnSpc>
                <a:spcPct val="100000"/>
              </a:lnSpc>
            </a:pPr>
            <a:r>
              <a:rPr lang="en-US" sz="2000" i="1" kern="1200">
                <a:solidFill>
                  <a:schemeClr val="tx1"/>
                </a:solidFill>
                <a:latin typeface="+mn-lt"/>
                <a:ea typeface="+mn-ea"/>
                <a:cs typeface="+mn-cs"/>
              </a:rPr>
              <a:t>Create compensation</a:t>
            </a:r>
          </a:p>
          <a:p>
            <a:pPr>
              <a:lnSpc>
                <a:spcPct val="100000"/>
              </a:lnSpc>
            </a:pPr>
            <a:r>
              <a:rPr lang="en-US" sz="2000" i="1" kern="1200">
                <a:solidFill>
                  <a:schemeClr val="tx1"/>
                </a:solidFill>
                <a:latin typeface="+mn-lt"/>
                <a:ea typeface="+mn-ea"/>
                <a:cs typeface="+mn-cs"/>
              </a:rPr>
              <a:t>Assign compensation </a:t>
            </a:r>
          </a:p>
          <a:p>
            <a:pPr>
              <a:lnSpc>
                <a:spcPct val="100000"/>
              </a:lnSpc>
            </a:pPr>
            <a:r>
              <a:rPr lang="en-US" sz="2000" i="1" kern="1200">
                <a:solidFill>
                  <a:schemeClr val="tx1"/>
                </a:solidFill>
                <a:latin typeface="+mn-lt"/>
                <a:ea typeface="+mn-ea"/>
                <a:cs typeface="+mn-cs"/>
              </a:rPr>
              <a:t>Salary breakup</a:t>
            </a:r>
          </a:p>
          <a:p>
            <a:pPr>
              <a:lnSpc>
                <a:spcPct val="100000"/>
              </a:lnSpc>
            </a:pPr>
            <a:r>
              <a:rPr lang="en-US" sz="2000" i="1" kern="1200">
                <a:solidFill>
                  <a:schemeClr val="tx1"/>
                </a:solidFill>
                <a:latin typeface="+mn-lt"/>
                <a:ea typeface="+mn-ea"/>
                <a:cs typeface="+mn-cs"/>
              </a:rPr>
              <a:t>Salary  details</a:t>
            </a:r>
          </a:p>
        </p:txBody>
      </p:sp>
      <p:sp>
        <p:nvSpPr>
          <p:cNvPr id="27" name="Rectangle 26">
            <a:extLst>
              <a:ext uri="{FF2B5EF4-FFF2-40B4-BE49-F238E27FC236}">
                <a16:creationId xmlns:a16="http://schemas.microsoft.com/office/drawing/2014/main" xmlns="" id="{D91952F0-771E-D2ED-C333-EEED6708B80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517871" y="508090"/>
            <a:ext cx="346642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creenshot of a computer&#10;&#10;AI-generated content may be incorrect.">
            <a:extLst>
              <a:ext uri="{FF2B5EF4-FFF2-40B4-BE49-F238E27FC236}">
                <a16:creationId xmlns:a16="http://schemas.microsoft.com/office/drawing/2014/main" xmlns="" id="{9B82F3BD-697D-5520-76CE-EF1144443648}"/>
              </a:ext>
            </a:extLst>
          </p:cNvPr>
          <p:cNvPicPr>
            <a:picLocks noChangeAspect="1"/>
          </p:cNvPicPr>
          <p:nvPr/>
        </p:nvPicPr>
        <p:blipFill>
          <a:blip r:embed="rId2"/>
          <a:stretch>
            <a:fillRect/>
          </a:stretch>
        </p:blipFill>
        <p:spPr>
          <a:xfrm>
            <a:off x="4232366" y="1386395"/>
            <a:ext cx="7438426" cy="4184114"/>
          </a:xfrm>
          <a:prstGeom prst="rect">
            <a:avLst/>
          </a:prstGeom>
        </p:spPr>
      </p:pic>
      <p:sp>
        <p:nvSpPr>
          <p:cNvPr id="28" name="Rectangle 27">
            <a:extLst>
              <a:ext uri="{FF2B5EF4-FFF2-40B4-BE49-F238E27FC236}">
                <a16:creationId xmlns:a16="http://schemas.microsoft.com/office/drawing/2014/main" xmlns="" id="{3FB6D83C-2377-9CAD-A991-9E0B6AF250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521208" y="6299535"/>
            <a:ext cx="3465681"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xmlns="" val="28628916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xmlns="" id="{774A975B-A886-5202-0489-6965514A0D1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xmlns="" id="{EA67E988-5919-57BB-C7DE-D3EAD38A304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3" name="Rectangle 12">
            <a:extLst>
              <a:ext uri="{FF2B5EF4-FFF2-40B4-BE49-F238E27FC236}">
                <a16:creationId xmlns:a16="http://schemas.microsoft.com/office/drawing/2014/main" xmlns="" id="{FAF3766F-DEF3-4802-BB0D-7A18EDD9704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xmlns="" id="{95E8DA06-26BA-D988-EBD3-402F3696FC4A}"/>
              </a:ext>
            </a:extLst>
          </p:cNvPr>
          <p:cNvSpPr>
            <a:spLocks noGrp="1"/>
          </p:cNvSpPr>
          <p:nvPr>
            <p:ph type="title"/>
          </p:nvPr>
        </p:nvSpPr>
        <p:spPr>
          <a:xfrm>
            <a:off x="517870" y="978408"/>
            <a:ext cx="3465681" cy="2450592"/>
          </a:xfrm>
        </p:spPr>
        <p:txBody>
          <a:bodyPr vert="horz" lIns="91440" tIns="45720" rIns="91440" bIns="45720" rtlCol="0" anchor="t">
            <a:normAutofit/>
          </a:bodyPr>
          <a:lstStyle/>
          <a:p>
            <a:r>
              <a:rPr lang="en-US" sz="2400" dirty="0" smtClean="0">
                <a:solidFill>
                  <a:schemeClr val="tx2"/>
                </a:solidFill>
              </a:rPr>
              <a:t>you </a:t>
            </a:r>
            <a:r>
              <a:rPr lang="en-US" sz="2400" dirty="0">
                <a:solidFill>
                  <a:schemeClr val="tx2"/>
                </a:solidFill>
              </a:rPr>
              <a:t>will have two options </a:t>
            </a:r>
            <a:r>
              <a:rPr lang="en-US" sz="2400" dirty="0" smtClean="0">
                <a:solidFill>
                  <a:schemeClr val="tx2"/>
                </a:solidFill>
              </a:rPr>
              <a:t>button here</a:t>
            </a:r>
            <a:endParaRPr lang="en-US" sz="2400" dirty="0">
              <a:solidFill>
                <a:schemeClr val="tx2"/>
              </a:solidFill>
            </a:endParaRPr>
          </a:p>
        </p:txBody>
      </p:sp>
      <p:sp>
        <p:nvSpPr>
          <p:cNvPr id="3" name="Text Placeholder 2">
            <a:extLst>
              <a:ext uri="{FF2B5EF4-FFF2-40B4-BE49-F238E27FC236}">
                <a16:creationId xmlns:a16="http://schemas.microsoft.com/office/drawing/2014/main" xmlns="" id="{A086E422-A760-515A-584B-6F59D72FE3EC}"/>
              </a:ext>
            </a:extLst>
          </p:cNvPr>
          <p:cNvSpPr>
            <a:spLocks noGrp="1"/>
          </p:cNvSpPr>
          <p:nvPr>
            <p:ph type="body" idx="1"/>
          </p:nvPr>
        </p:nvSpPr>
        <p:spPr>
          <a:xfrm>
            <a:off x="517870" y="3472343"/>
            <a:ext cx="3465681" cy="2730682"/>
          </a:xfrm>
        </p:spPr>
        <p:txBody>
          <a:bodyPr vert="horz" lIns="91440" tIns="45720" rIns="91440" bIns="45720" rtlCol="0" anchor="t">
            <a:normAutofit/>
          </a:bodyPr>
          <a:lstStyle/>
          <a:p>
            <a:r>
              <a:rPr lang="en-US" i="1" kern="1200" dirty="0">
                <a:solidFill>
                  <a:schemeClr val="tx1"/>
                </a:solidFill>
                <a:latin typeface="+mn-lt"/>
                <a:ea typeface="+mn-ea"/>
                <a:cs typeface="+mn-cs"/>
              </a:rPr>
              <a:t>Create </a:t>
            </a:r>
            <a:r>
              <a:rPr lang="en-US" i="1" kern="1200" dirty="0" err="1">
                <a:solidFill>
                  <a:schemeClr val="tx1"/>
                </a:solidFill>
                <a:latin typeface="+mn-lt"/>
                <a:ea typeface="+mn-ea"/>
                <a:cs typeface="+mn-cs"/>
              </a:rPr>
              <a:t>compesnation</a:t>
            </a:r>
            <a:r>
              <a:rPr lang="en-US" i="1" kern="1200" dirty="0">
                <a:solidFill>
                  <a:schemeClr val="tx1"/>
                </a:solidFill>
                <a:latin typeface="+mn-lt"/>
                <a:ea typeface="+mn-ea"/>
                <a:cs typeface="+mn-cs"/>
              </a:rPr>
              <a:t> </a:t>
            </a:r>
          </a:p>
          <a:p>
            <a:r>
              <a:rPr lang="en-US" i="1" kern="1200" dirty="0">
                <a:solidFill>
                  <a:schemeClr val="tx1"/>
                </a:solidFill>
                <a:latin typeface="+mn-lt"/>
                <a:ea typeface="+mn-ea"/>
                <a:cs typeface="+mn-cs"/>
              </a:rPr>
              <a:t>Salary calculation period</a:t>
            </a:r>
          </a:p>
        </p:txBody>
      </p:sp>
      <p:sp>
        <p:nvSpPr>
          <p:cNvPr id="15" name="Rectangle 14">
            <a:extLst>
              <a:ext uri="{FF2B5EF4-FFF2-40B4-BE49-F238E27FC236}">
                <a16:creationId xmlns:a16="http://schemas.microsoft.com/office/drawing/2014/main" xmlns="" id="{D91952F0-771E-D2ED-C333-EEED6708B80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517871" y="508090"/>
            <a:ext cx="346642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creenshot of a computer&#10;&#10;AI-generated content may be incorrect.">
            <a:extLst>
              <a:ext uri="{FF2B5EF4-FFF2-40B4-BE49-F238E27FC236}">
                <a16:creationId xmlns:a16="http://schemas.microsoft.com/office/drawing/2014/main" xmlns="" id="{F5269626-81E5-5D2B-DE34-12F2922EE602}"/>
              </a:ext>
            </a:extLst>
          </p:cNvPr>
          <p:cNvPicPr>
            <a:picLocks noChangeAspect="1"/>
          </p:cNvPicPr>
          <p:nvPr/>
        </p:nvPicPr>
        <p:blipFill>
          <a:blip r:embed="rId2"/>
          <a:stretch>
            <a:fillRect/>
          </a:stretch>
        </p:blipFill>
        <p:spPr>
          <a:xfrm>
            <a:off x="4232366" y="1386395"/>
            <a:ext cx="7438426" cy="4184114"/>
          </a:xfrm>
          <a:prstGeom prst="rect">
            <a:avLst/>
          </a:prstGeom>
        </p:spPr>
      </p:pic>
      <p:sp>
        <p:nvSpPr>
          <p:cNvPr id="17" name="Rectangle 16">
            <a:extLst>
              <a:ext uri="{FF2B5EF4-FFF2-40B4-BE49-F238E27FC236}">
                <a16:creationId xmlns:a16="http://schemas.microsoft.com/office/drawing/2014/main" xmlns="" id="{3FB6D83C-2377-9CAD-A991-9E0B6AF250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521208" y="6299535"/>
            <a:ext cx="3465681"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xmlns="" val="13033937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xmlns="" id="{774A975B-A886-5202-0489-6965514A0D1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xmlns="" id="{EA67E988-5919-57BB-C7DE-D3EAD38A304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3" name="Rectangle 12">
            <a:extLst>
              <a:ext uri="{FF2B5EF4-FFF2-40B4-BE49-F238E27FC236}">
                <a16:creationId xmlns:a16="http://schemas.microsoft.com/office/drawing/2014/main" xmlns="" id="{FAF3766F-DEF3-4802-BB0D-7A18EDD9704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xmlns="" id="{CFD1E913-B2D7-825E-B04B-67FA34CAC529}"/>
              </a:ext>
            </a:extLst>
          </p:cNvPr>
          <p:cNvSpPr>
            <a:spLocks noGrp="1"/>
          </p:cNvSpPr>
          <p:nvPr>
            <p:ph type="title"/>
          </p:nvPr>
        </p:nvSpPr>
        <p:spPr>
          <a:xfrm>
            <a:off x="517870" y="978408"/>
            <a:ext cx="3465681" cy="2561626"/>
          </a:xfrm>
        </p:spPr>
        <p:txBody>
          <a:bodyPr vert="horz" lIns="91440" tIns="45720" rIns="91440" bIns="45720" rtlCol="0" anchor="t">
            <a:normAutofit fontScale="90000"/>
          </a:bodyPr>
          <a:lstStyle/>
          <a:p>
            <a:r>
              <a:rPr lang="en-US" sz="2400" dirty="0">
                <a:solidFill>
                  <a:schemeClr val="tx2"/>
                </a:solidFill>
                <a:ea typeface="+mj-lt"/>
                <a:cs typeface="+mj-lt"/>
              </a:rPr>
              <a:t>1. Create Compensation Plan</a:t>
            </a:r>
            <a:endParaRPr lang="en-US" sz="2400" dirty="0">
              <a:solidFill>
                <a:schemeClr val="tx2"/>
              </a:solidFill>
            </a:endParaRPr>
          </a:p>
          <a:p>
            <a:r>
              <a:rPr lang="en-US" sz="1200" b="0" dirty="0">
                <a:solidFill>
                  <a:schemeClr val="tx2"/>
                </a:solidFill>
                <a:ea typeface="+mj-lt"/>
                <a:cs typeface="+mj-lt"/>
              </a:rPr>
              <a:t>I</a:t>
            </a:r>
            <a:r>
              <a:rPr lang="en-US" sz="1400" b="0" dirty="0">
                <a:solidFill>
                  <a:schemeClr val="tx2"/>
                </a:solidFill>
                <a:ea typeface="+mj-lt"/>
                <a:cs typeface="+mj-lt"/>
              </a:rPr>
              <a:t>n this section, you design and configure salary structure plans for employees.</a:t>
            </a:r>
            <a:endParaRPr lang="en-US" sz="1400" dirty="0">
              <a:solidFill>
                <a:schemeClr val="tx2"/>
              </a:solidFill>
            </a:endParaRPr>
          </a:p>
          <a:p>
            <a:r>
              <a:rPr lang="en-US" sz="1400" b="0" dirty="0">
                <a:solidFill>
                  <a:schemeClr val="tx2"/>
                </a:solidFill>
                <a:ea typeface="+mj-lt"/>
                <a:cs typeface="+mj-lt"/>
              </a:rPr>
              <a:t>You can define components such as:</a:t>
            </a:r>
            <a:endParaRPr lang="en-US" sz="1400" dirty="0">
              <a:solidFill>
                <a:schemeClr val="tx2"/>
              </a:solidFill>
            </a:endParaRPr>
          </a:p>
          <a:p>
            <a:r>
              <a:rPr lang="en-US" sz="1400" b="0" dirty="0" smtClean="0">
                <a:solidFill>
                  <a:schemeClr val="tx2"/>
                </a:solidFill>
                <a:ea typeface="+mj-lt"/>
                <a:cs typeface="+mj-lt"/>
              </a:rPr>
              <a:t>1.Allowances </a:t>
            </a:r>
            <a:r>
              <a:rPr lang="en-US" sz="1400" b="0" dirty="0">
                <a:solidFill>
                  <a:schemeClr val="tx2"/>
                </a:solidFill>
                <a:ea typeface="+mj-lt"/>
                <a:cs typeface="+mj-lt"/>
              </a:rPr>
              <a:t>(e.g., HRA, Travel, other, etc.)</a:t>
            </a:r>
            <a:endParaRPr lang="en-US" sz="1400" dirty="0">
              <a:solidFill>
                <a:schemeClr val="tx2"/>
              </a:solidFill>
            </a:endParaRPr>
          </a:p>
          <a:p>
            <a:r>
              <a:rPr lang="en-US" sz="1400" b="0" dirty="0" smtClean="0">
                <a:solidFill>
                  <a:schemeClr val="tx2"/>
                </a:solidFill>
                <a:ea typeface="+mj-lt"/>
                <a:cs typeface="+mj-lt"/>
              </a:rPr>
              <a:t>2.PF </a:t>
            </a:r>
            <a:r>
              <a:rPr lang="en-US" sz="1400" b="0" dirty="0">
                <a:solidFill>
                  <a:schemeClr val="tx2"/>
                </a:solidFill>
                <a:ea typeface="+mj-lt"/>
                <a:cs typeface="+mj-lt"/>
              </a:rPr>
              <a:t>and Medical Contributions</a:t>
            </a:r>
            <a:endParaRPr lang="en-US" sz="1400" dirty="0">
              <a:solidFill>
                <a:schemeClr val="tx2"/>
              </a:solidFill>
            </a:endParaRPr>
          </a:p>
          <a:p>
            <a:r>
              <a:rPr lang="en-US" sz="1400" b="0" dirty="0" smtClean="0">
                <a:solidFill>
                  <a:schemeClr val="tx2"/>
                </a:solidFill>
                <a:ea typeface="+mj-lt"/>
                <a:cs typeface="+mj-lt"/>
              </a:rPr>
              <a:t>3.Statutory </a:t>
            </a:r>
            <a:r>
              <a:rPr lang="en-US" sz="1400" b="0" dirty="0">
                <a:solidFill>
                  <a:schemeClr val="tx2"/>
                </a:solidFill>
                <a:ea typeface="+mj-lt"/>
                <a:cs typeface="+mj-lt"/>
              </a:rPr>
              <a:t>Components (like ESI, TDS, PT, etc.)</a:t>
            </a:r>
            <a:endParaRPr lang="en-US" sz="1400" dirty="0">
              <a:solidFill>
                <a:schemeClr val="tx2"/>
              </a:solidFill>
            </a:endParaRPr>
          </a:p>
          <a:p>
            <a:r>
              <a:rPr lang="en-US" sz="1400" b="0" dirty="0" smtClean="0">
                <a:solidFill>
                  <a:schemeClr val="tx2"/>
                </a:solidFill>
                <a:ea typeface="+mj-lt"/>
                <a:cs typeface="+mj-lt"/>
              </a:rPr>
              <a:t>4.Other </a:t>
            </a:r>
            <a:r>
              <a:rPr lang="en-US" sz="1400" b="0" dirty="0">
                <a:solidFill>
                  <a:schemeClr val="tx2"/>
                </a:solidFill>
                <a:ea typeface="+mj-lt"/>
                <a:cs typeface="+mj-lt"/>
              </a:rPr>
              <a:t>components</a:t>
            </a:r>
            <a:endParaRPr lang="en-US" sz="1400" dirty="0">
              <a:solidFill>
                <a:schemeClr val="tx2"/>
              </a:solidFill>
            </a:endParaRPr>
          </a:p>
          <a:p>
            <a:r>
              <a:rPr lang="en-US" sz="1400" b="0" dirty="0">
                <a:solidFill>
                  <a:schemeClr val="tx2"/>
                </a:solidFill>
                <a:ea typeface="+mj-lt"/>
                <a:cs typeface="+mj-lt"/>
              </a:rPr>
              <a:t>After entering all these fields and </a:t>
            </a:r>
            <a:r>
              <a:rPr lang="en-US" sz="1400" b="0" dirty="0" smtClean="0">
                <a:solidFill>
                  <a:schemeClr val="tx2"/>
                </a:solidFill>
                <a:ea typeface="+mj-lt"/>
                <a:cs typeface="+mj-lt"/>
              </a:rPr>
              <a:t>proceeds</a:t>
            </a:r>
            <a:br>
              <a:rPr lang="en-US" sz="1400" b="0" dirty="0" smtClean="0">
                <a:solidFill>
                  <a:schemeClr val="tx2"/>
                </a:solidFill>
                <a:ea typeface="+mj-lt"/>
                <a:cs typeface="+mj-lt"/>
              </a:rPr>
            </a:br>
            <a:r>
              <a:rPr lang="en-US" sz="1400" b="0" dirty="0" smtClean="0">
                <a:solidFill>
                  <a:schemeClr val="tx2"/>
                </a:solidFill>
                <a:ea typeface="+mj-lt"/>
                <a:cs typeface="+mj-lt"/>
              </a:rPr>
              <a:t/>
            </a:r>
            <a:br>
              <a:rPr lang="en-US" sz="1400" b="0" dirty="0" smtClean="0">
                <a:solidFill>
                  <a:schemeClr val="tx2"/>
                </a:solidFill>
                <a:ea typeface="+mj-lt"/>
                <a:cs typeface="+mj-lt"/>
              </a:rPr>
            </a:br>
            <a:r>
              <a:rPr lang="en-US" sz="1400" b="0" dirty="0" smtClean="0">
                <a:solidFill>
                  <a:schemeClr val="tx2"/>
                </a:solidFill>
                <a:ea typeface="+mj-lt"/>
                <a:cs typeface="+mj-lt"/>
              </a:rPr>
              <a:t>here for 3 and 4 components have include in </a:t>
            </a:r>
            <a:r>
              <a:rPr lang="en-US" sz="1400" b="0" dirty="0" err="1" smtClean="0">
                <a:solidFill>
                  <a:schemeClr val="tx2"/>
                </a:solidFill>
                <a:ea typeface="+mj-lt"/>
                <a:cs typeface="+mj-lt"/>
              </a:rPr>
              <a:t>ctc</a:t>
            </a:r>
            <a:r>
              <a:rPr lang="en-US" sz="1400" b="0" dirty="0" smtClean="0">
                <a:solidFill>
                  <a:schemeClr val="tx2"/>
                </a:solidFill>
                <a:ea typeface="+mj-lt"/>
                <a:cs typeface="+mj-lt"/>
              </a:rPr>
              <a:t> checkbox if we click checkbox as yes then it will calculate amount in net salary otherwise it will show amount in others </a:t>
            </a:r>
            <a:br>
              <a:rPr lang="en-US" sz="1400" b="0" dirty="0" smtClean="0">
                <a:solidFill>
                  <a:schemeClr val="tx2"/>
                </a:solidFill>
                <a:ea typeface="+mj-lt"/>
                <a:cs typeface="+mj-lt"/>
              </a:rPr>
            </a:br>
            <a:endParaRPr lang="en-US" sz="1400" dirty="0">
              <a:solidFill>
                <a:schemeClr val="tx2"/>
              </a:solidFill>
            </a:endParaRPr>
          </a:p>
          <a:p>
            <a:r>
              <a:rPr lang="en-US" sz="1400" b="0" dirty="0" smtClean="0">
                <a:solidFill>
                  <a:schemeClr val="tx2"/>
                </a:solidFill>
                <a:ea typeface="+mj-lt"/>
                <a:cs typeface="+mj-lt"/>
              </a:rPr>
              <a:t>Once </a:t>
            </a:r>
            <a:r>
              <a:rPr lang="en-US" sz="1400" b="0" dirty="0">
                <a:solidFill>
                  <a:schemeClr val="tx2"/>
                </a:solidFill>
                <a:ea typeface="+mj-lt"/>
                <a:cs typeface="+mj-lt"/>
              </a:rPr>
              <a:t>finalized, click “Save Plan” to store the compensation plan for future assignments.</a:t>
            </a:r>
            <a:endParaRPr lang="en-US" sz="1400" dirty="0">
              <a:solidFill>
                <a:schemeClr val="tx2"/>
              </a:solidFill>
            </a:endParaRPr>
          </a:p>
        </p:txBody>
      </p:sp>
      <p:sp>
        <p:nvSpPr>
          <p:cNvPr id="3" name="Text Placeholder 2">
            <a:extLst>
              <a:ext uri="{FF2B5EF4-FFF2-40B4-BE49-F238E27FC236}">
                <a16:creationId xmlns:a16="http://schemas.microsoft.com/office/drawing/2014/main" xmlns="" id="{237FA155-EE66-F90A-B3D8-6D00E593C517}"/>
              </a:ext>
            </a:extLst>
          </p:cNvPr>
          <p:cNvSpPr>
            <a:spLocks noGrp="1"/>
          </p:cNvSpPr>
          <p:nvPr>
            <p:ph type="body" idx="1"/>
          </p:nvPr>
        </p:nvSpPr>
        <p:spPr>
          <a:xfrm flipV="1">
            <a:off x="517870" y="5773783"/>
            <a:ext cx="801479" cy="91440"/>
          </a:xfrm>
        </p:spPr>
        <p:txBody>
          <a:bodyPr vert="horz" lIns="91440" tIns="45720" rIns="91440" bIns="45720" rtlCol="0" anchor="t">
            <a:normAutofit fontScale="25000" lnSpcReduction="20000"/>
          </a:bodyPr>
          <a:lstStyle/>
          <a:p>
            <a:endParaRPr lang="en-US" sz="2200" i="1" kern="1200" dirty="0">
              <a:solidFill>
                <a:schemeClr val="tx1"/>
              </a:solidFill>
              <a:latin typeface="+mn-lt"/>
              <a:ea typeface="+mn-ea"/>
              <a:cs typeface="+mn-cs"/>
            </a:endParaRPr>
          </a:p>
        </p:txBody>
      </p:sp>
      <p:sp>
        <p:nvSpPr>
          <p:cNvPr id="15" name="Rectangle 14">
            <a:extLst>
              <a:ext uri="{FF2B5EF4-FFF2-40B4-BE49-F238E27FC236}">
                <a16:creationId xmlns:a16="http://schemas.microsoft.com/office/drawing/2014/main" xmlns="" id="{D91952F0-771E-D2ED-C333-EEED6708B80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517871" y="508090"/>
            <a:ext cx="346642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creenshot of a computer&#10;&#10;AI-generated content may be incorrect.">
            <a:extLst>
              <a:ext uri="{FF2B5EF4-FFF2-40B4-BE49-F238E27FC236}">
                <a16:creationId xmlns:a16="http://schemas.microsoft.com/office/drawing/2014/main" xmlns="" id="{CB5D0942-6A1A-568C-3B42-C1907F28A93E}"/>
              </a:ext>
            </a:extLst>
          </p:cNvPr>
          <p:cNvPicPr>
            <a:picLocks noChangeAspect="1"/>
          </p:cNvPicPr>
          <p:nvPr/>
        </p:nvPicPr>
        <p:blipFill>
          <a:blip r:embed="rId2"/>
          <a:stretch>
            <a:fillRect/>
          </a:stretch>
        </p:blipFill>
        <p:spPr>
          <a:xfrm>
            <a:off x="4781007" y="326572"/>
            <a:ext cx="6732950" cy="2987926"/>
          </a:xfrm>
          <a:prstGeom prst="rect">
            <a:avLst/>
          </a:prstGeom>
        </p:spPr>
      </p:pic>
      <p:sp>
        <p:nvSpPr>
          <p:cNvPr id="17" name="Rectangle 16">
            <a:extLst>
              <a:ext uri="{FF2B5EF4-FFF2-40B4-BE49-F238E27FC236}">
                <a16:creationId xmlns:a16="http://schemas.microsoft.com/office/drawing/2014/main" xmlns="" id="{3FB6D83C-2377-9CAD-A991-9E0B6AF250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521208" y="6299535"/>
            <a:ext cx="3465681"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6" name="Picture 5" descr="A screenshot of a computer&#10;&#10;AI-generated content may be incorrect.">
            <a:extLst>
              <a:ext uri="{FF2B5EF4-FFF2-40B4-BE49-F238E27FC236}">
                <a16:creationId xmlns:a16="http://schemas.microsoft.com/office/drawing/2014/main" xmlns="" id="{6BF0729C-DB40-1975-829E-6CFE9B228148}"/>
              </a:ext>
            </a:extLst>
          </p:cNvPr>
          <p:cNvPicPr>
            <a:picLocks noChangeAspect="1"/>
          </p:cNvPicPr>
          <p:nvPr/>
        </p:nvPicPr>
        <p:blipFill>
          <a:blip r:embed="rId3"/>
          <a:stretch>
            <a:fillRect/>
          </a:stretch>
        </p:blipFill>
        <p:spPr>
          <a:xfrm>
            <a:off x="4833258" y="3596011"/>
            <a:ext cx="6697388" cy="2627712"/>
          </a:xfrm>
          <a:prstGeom prst="rect">
            <a:avLst/>
          </a:prstGeom>
        </p:spPr>
      </p:pic>
    </p:spTree>
    <p:extLst>
      <p:ext uri="{BB962C8B-B14F-4D97-AF65-F5344CB8AC3E}">
        <p14:creationId xmlns:p14="http://schemas.microsoft.com/office/powerpoint/2010/main" xmlns="" val="23870524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DEBCB0C-F235-FFD5-1F78-B2E8D655BF90}"/>
              </a:ext>
            </a:extLst>
          </p:cNvPr>
          <p:cNvSpPr>
            <a:spLocks noGrp="1"/>
          </p:cNvSpPr>
          <p:nvPr>
            <p:ph type="title"/>
          </p:nvPr>
        </p:nvSpPr>
        <p:spPr>
          <a:xfrm>
            <a:off x="521208" y="978408"/>
            <a:ext cx="5020056" cy="641386"/>
          </a:xfrm>
        </p:spPr>
        <p:txBody>
          <a:bodyPr>
            <a:normAutofit fontScale="90000"/>
          </a:bodyPr>
          <a:lstStyle/>
          <a:p>
            <a:r>
              <a:rPr lang="en-US" sz="2400" dirty="0"/>
              <a:t>Preview of </a:t>
            </a:r>
            <a:r>
              <a:rPr lang="en-US" sz="2400" dirty="0" smtClean="0"/>
              <a:t>compensation</a:t>
            </a:r>
            <a:br>
              <a:rPr lang="en-US" sz="2400" dirty="0" smtClean="0"/>
            </a:br>
            <a:r>
              <a:rPr lang="en-US" sz="2400" dirty="0" smtClean="0"/>
              <a:t/>
            </a:r>
            <a:br>
              <a:rPr lang="en-US" sz="2400" dirty="0" smtClean="0"/>
            </a:br>
            <a:endParaRPr lang="en-US" sz="2400" dirty="0"/>
          </a:p>
        </p:txBody>
      </p:sp>
      <p:sp>
        <p:nvSpPr>
          <p:cNvPr id="3" name="Text Placeholder 2">
            <a:extLst>
              <a:ext uri="{FF2B5EF4-FFF2-40B4-BE49-F238E27FC236}">
                <a16:creationId xmlns:a16="http://schemas.microsoft.com/office/drawing/2014/main" xmlns="" id="{2243F16F-7CD9-4F4B-BAE5-87251BD60288}"/>
              </a:ext>
            </a:extLst>
          </p:cNvPr>
          <p:cNvSpPr>
            <a:spLocks noGrp="1"/>
          </p:cNvSpPr>
          <p:nvPr>
            <p:ph type="body" idx="1"/>
          </p:nvPr>
        </p:nvSpPr>
        <p:spPr>
          <a:xfrm>
            <a:off x="521208" y="1841862"/>
            <a:ext cx="5020056" cy="1436915"/>
          </a:xfrm>
        </p:spPr>
        <p:txBody>
          <a:bodyPr>
            <a:normAutofit fontScale="62500" lnSpcReduction="20000"/>
          </a:bodyPr>
          <a:lstStyle/>
          <a:p>
            <a:r>
              <a:rPr lang="en-US" sz="2400" i="0" dirty="0" smtClean="0">
                <a:solidFill>
                  <a:schemeClr val="tx2"/>
                </a:solidFill>
                <a:ea typeface="+mj-lt"/>
                <a:cs typeface="+mj-lt"/>
              </a:rPr>
              <a:t>A preview section lets you test how the CTC (Cost to  Company) is distributed among these components</a:t>
            </a:r>
            <a:endParaRPr lang="en-US" sz="2400" i="0" dirty="0" smtClean="0">
              <a:solidFill>
                <a:schemeClr val="tx2"/>
              </a:solidFill>
            </a:endParaRPr>
          </a:p>
          <a:p>
            <a:r>
              <a:rPr lang="en-US" sz="2400" i="0" dirty="0" smtClean="0">
                <a:solidFill>
                  <a:schemeClr val="tx2"/>
                </a:solidFill>
                <a:ea typeface="+mj-lt"/>
                <a:cs typeface="+mj-lt"/>
              </a:rPr>
              <a:t>by entering different amounts.</a:t>
            </a:r>
            <a:endParaRPr lang="en-US" sz="2400" i="0" dirty="0" smtClean="0">
              <a:solidFill>
                <a:schemeClr val="tx2"/>
              </a:solidFill>
            </a:endParaRPr>
          </a:p>
          <a:p>
            <a:r>
              <a:rPr lang="en-US" sz="2400" i="0" dirty="0" smtClean="0">
                <a:solidFill>
                  <a:schemeClr val="tx2"/>
                </a:solidFill>
                <a:ea typeface="+mj-lt"/>
                <a:cs typeface="+mj-lt"/>
              </a:rPr>
              <a:t>You can adjust component values, recalculate instantly, and fine-tune the structure before saving</a:t>
            </a:r>
            <a:r>
              <a:rPr lang="en-US" sz="2400" dirty="0" smtClean="0">
                <a:solidFill>
                  <a:schemeClr val="tx2"/>
                </a:solidFill>
                <a:ea typeface="+mj-lt"/>
                <a:cs typeface="+mj-lt"/>
              </a:rPr>
              <a:t>.</a:t>
            </a:r>
            <a:endParaRPr lang="en-US" i="0" dirty="0">
              <a:solidFill>
                <a:schemeClr val="tx1"/>
              </a:solidFill>
            </a:endParaRPr>
          </a:p>
        </p:txBody>
      </p:sp>
      <p:pic>
        <p:nvPicPr>
          <p:cNvPr id="4" name="Picture 3" descr="A screenshot of a computer&#10;&#10;AI-generated content may be incorrect.">
            <a:extLst>
              <a:ext uri="{FF2B5EF4-FFF2-40B4-BE49-F238E27FC236}">
                <a16:creationId xmlns:a16="http://schemas.microsoft.com/office/drawing/2014/main" xmlns="" id="{FAB36B3A-EDE0-644B-A88D-F65FEA10850C}"/>
              </a:ext>
            </a:extLst>
          </p:cNvPr>
          <p:cNvPicPr>
            <a:picLocks noChangeAspect="1"/>
          </p:cNvPicPr>
          <p:nvPr/>
        </p:nvPicPr>
        <p:blipFill>
          <a:blip r:embed="rId2"/>
          <a:stretch>
            <a:fillRect/>
          </a:stretch>
        </p:blipFill>
        <p:spPr>
          <a:xfrm>
            <a:off x="6093664" y="847546"/>
            <a:ext cx="5726860" cy="5277927"/>
          </a:xfrm>
          <a:prstGeom prst="rect">
            <a:avLst/>
          </a:prstGeom>
        </p:spPr>
      </p:pic>
    </p:spTree>
    <p:extLst>
      <p:ext uri="{BB962C8B-B14F-4D97-AF65-F5344CB8AC3E}">
        <p14:creationId xmlns:p14="http://schemas.microsoft.com/office/powerpoint/2010/main" xmlns="" val="370361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xmlns="" id="{774A975B-A886-5202-0489-6965514A0D1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xmlns="" id="{EA67E988-5919-57BB-C7DE-D3EAD38A304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4" name="Rectangle 13">
            <a:extLst>
              <a:ext uri="{FF2B5EF4-FFF2-40B4-BE49-F238E27FC236}">
                <a16:creationId xmlns:a16="http://schemas.microsoft.com/office/drawing/2014/main" xmlns="" id="{DD1980C8-FD80-43D8-9D6A-0262A4D5339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xmlns="" id="{9A3BA3F0-306A-F1B5-9BA6-8F27FB9DA9EF}"/>
              </a:ext>
            </a:extLst>
          </p:cNvPr>
          <p:cNvSpPr>
            <a:spLocks noGrp="1"/>
          </p:cNvSpPr>
          <p:nvPr>
            <p:ph type="title"/>
          </p:nvPr>
        </p:nvSpPr>
        <p:spPr>
          <a:xfrm>
            <a:off x="517870" y="978408"/>
            <a:ext cx="5021182" cy="2334248"/>
          </a:xfrm>
        </p:spPr>
        <p:txBody>
          <a:bodyPr vert="horz" lIns="91440" tIns="45720" rIns="91440" bIns="45720" rtlCol="0" anchor="t">
            <a:normAutofit fontScale="90000"/>
          </a:bodyPr>
          <a:lstStyle/>
          <a:p>
            <a:pPr>
              <a:lnSpc>
                <a:spcPct val="90000"/>
              </a:lnSpc>
            </a:pPr>
            <a:r>
              <a:rPr lang="en-US" sz="2400" dirty="0"/>
              <a:t>2. Assign Compensation</a:t>
            </a:r>
            <a:br>
              <a:rPr lang="en-US" sz="2400" dirty="0"/>
            </a:br>
            <a:r>
              <a:rPr lang="en-US" sz="2400" dirty="0"/>
              <a:t/>
            </a:r>
            <a:br>
              <a:rPr lang="en-US" sz="2400" dirty="0"/>
            </a:br>
            <a:r>
              <a:rPr lang="en-US" sz="1600" b="0" dirty="0"/>
              <a:t>This section is used to assign the created compensation plan to employees</a:t>
            </a:r>
            <a:r>
              <a:rPr lang="en-US" sz="1600" b="0" dirty="0" smtClean="0"/>
              <a:t>.</a:t>
            </a:r>
            <a:br>
              <a:rPr lang="en-US" sz="1600" b="0" dirty="0" smtClean="0"/>
            </a:br>
            <a:endParaRPr lang="en-US" sz="1600" b="0" dirty="0"/>
          </a:p>
          <a:p>
            <a:pPr>
              <a:lnSpc>
                <a:spcPct val="90000"/>
              </a:lnSpc>
            </a:pPr>
            <a:r>
              <a:rPr lang="en-US" sz="1600" b="0" dirty="0"/>
              <a:t>You can assign plans individually (per employee) or by department (bulk assignment</a:t>
            </a:r>
            <a:r>
              <a:rPr lang="en-US" sz="1600" b="0" dirty="0" smtClean="0"/>
              <a:t>).</a:t>
            </a:r>
            <a:br>
              <a:rPr lang="en-US" sz="1600" b="0" dirty="0" smtClean="0"/>
            </a:br>
            <a:endParaRPr lang="en-US" sz="1600" b="0" dirty="0"/>
          </a:p>
          <a:p>
            <a:pPr>
              <a:lnSpc>
                <a:spcPct val="90000"/>
              </a:lnSpc>
            </a:pPr>
            <a:r>
              <a:rPr lang="en-US" sz="1600" b="0" dirty="0"/>
              <a:t>Once a plan is assigned, it cannot be reassigned — ensuring data consistency and avoiding duplication</a:t>
            </a:r>
            <a:r>
              <a:rPr lang="en-US" sz="2400" b="0" dirty="0"/>
              <a:t>.</a:t>
            </a:r>
          </a:p>
        </p:txBody>
      </p:sp>
      <p:sp>
        <p:nvSpPr>
          <p:cNvPr id="3" name="Text Placeholder 2">
            <a:extLst>
              <a:ext uri="{FF2B5EF4-FFF2-40B4-BE49-F238E27FC236}">
                <a16:creationId xmlns:a16="http://schemas.microsoft.com/office/drawing/2014/main" xmlns="" id="{571BA09E-69E9-49A5-8BD3-90C1D204A911}"/>
              </a:ext>
            </a:extLst>
          </p:cNvPr>
          <p:cNvSpPr>
            <a:spLocks noGrp="1"/>
          </p:cNvSpPr>
          <p:nvPr>
            <p:ph type="body" idx="1"/>
          </p:nvPr>
        </p:nvSpPr>
        <p:spPr>
          <a:xfrm>
            <a:off x="6652366" y="3705226"/>
            <a:ext cx="5040785" cy="2231136"/>
          </a:xfrm>
        </p:spPr>
        <p:txBody>
          <a:bodyPr vert="horz" lIns="91440" tIns="45720" rIns="91440" bIns="45720" rtlCol="0" anchor="b">
            <a:normAutofit/>
          </a:bodyPr>
          <a:lstStyle/>
          <a:p>
            <a:endParaRPr lang="en-US" sz="2200" i="1" kern="1200">
              <a:solidFill>
                <a:schemeClr val="tx1"/>
              </a:solidFill>
              <a:latin typeface="+mn-lt"/>
              <a:ea typeface="+mn-ea"/>
              <a:cs typeface="+mn-cs"/>
            </a:endParaRPr>
          </a:p>
        </p:txBody>
      </p:sp>
      <p:sp>
        <p:nvSpPr>
          <p:cNvPr id="16" name="Rectangle 15">
            <a:extLst>
              <a:ext uri="{FF2B5EF4-FFF2-40B4-BE49-F238E27FC236}">
                <a16:creationId xmlns:a16="http://schemas.microsoft.com/office/drawing/2014/main" xmlns="" id="{B2C335F7-F61C-4EB4-80F2-4B1438FE66B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computer&#10;&#10;AI-generated content may be incorrect.">
            <a:extLst>
              <a:ext uri="{FF2B5EF4-FFF2-40B4-BE49-F238E27FC236}">
                <a16:creationId xmlns:a16="http://schemas.microsoft.com/office/drawing/2014/main" xmlns="" id="{DDBB5C01-BCFD-F90A-7918-11EA21D67EDF}"/>
              </a:ext>
            </a:extLst>
          </p:cNvPr>
          <p:cNvPicPr>
            <a:picLocks noChangeAspect="1"/>
          </p:cNvPicPr>
          <p:nvPr/>
        </p:nvPicPr>
        <p:blipFill>
          <a:blip r:embed="rId2"/>
          <a:stretch>
            <a:fillRect/>
          </a:stretch>
        </p:blipFill>
        <p:spPr>
          <a:xfrm>
            <a:off x="6681845" y="508090"/>
            <a:ext cx="4972599" cy="2797087"/>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xmlns="" id="{E89003FF-980F-2240-4B9C-7B146C8B5DA8}"/>
              </a:ext>
            </a:extLst>
          </p:cNvPr>
          <p:cNvPicPr>
            <a:picLocks noChangeAspect="1"/>
          </p:cNvPicPr>
          <p:nvPr/>
        </p:nvPicPr>
        <p:blipFill>
          <a:blip r:embed="rId3"/>
          <a:stretch>
            <a:fillRect/>
          </a:stretch>
        </p:blipFill>
        <p:spPr>
          <a:xfrm>
            <a:off x="6743266" y="3607837"/>
            <a:ext cx="4867730" cy="2738098"/>
          </a:xfrm>
          <a:prstGeom prst="rect">
            <a:avLst/>
          </a:prstGeom>
        </p:spPr>
      </p:pic>
      <p:sp>
        <p:nvSpPr>
          <p:cNvPr id="18" name="Rectangle 17">
            <a:extLst>
              <a:ext uri="{FF2B5EF4-FFF2-40B4-BE49-F238E27FC236}">
                <a16:creationId xmlns:a16="http://schemas.microsoft.com/office/drawing/2014/main" xmlns="" id="{F1189494-2B67-46D2-93D6-A122A09BF6B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6662168" y="6300216"/>
            <a:ext cx="5021183"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40042737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Freeform: Shape 17">
            <a:extLst>
              <a:ext uri="{FF2B5EF4-FFF2-40B4-BE49-F238E27FC236}">
                <a16:creationId xmlns:a16="http://schemas.microsoft.com/office/drawing/2014/main" xmlns="" id="{774A975B-A886-5202-0489-6965514A0D1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8">
            <a:extLst>
              <a:ext uri="{FF2B5EF4-FFF2-40B4-BE49-F238E27FC236}">
                <a16:creationId xmlns:a16="http://schemas.microsoft.com/office/drawing/2014/main" xmlns="" id="{EA67E988-5919-57BB-C7DE-D3EAD38A304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20" name="Rectangle 19">
            <a:extLst>
              <a:ext uri="{FF2B5EF4-FFF2-40B4-BE49-F238E27FC236}">
                <a16:creationId xmlns:a16="http://schemas.microsoft.com/office/drawing/2014/main" xmlns="" id="{CD7F9EC8-0E2C-4023-9DD1-73BEF6B80D1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xmlns="" id="{426FF4A6-EA9D-F0D3-9F24-C897DF583980}"/>
              </a:ext>
            </a:extLst>
          </p:cNvPr>
          <p:cNvSpPr>
            <a:spLocks noGrp="1"/>
          </p:cNvSpPr>
          <p:nvPr>
            <p:ph type="title"/>
          </p:nvPr>
        </p:nvSpPr>
        <p:spPr>
          <a:xfrm>
            <a:off x="521208" y="1021539"/>
            <a:ext cx="5019419" cy="5274757"/>
          </a:xfrm>
        </p:spPr>
        <p:txBody>
          <a:bodyPr vert="horz" lIns="91440" tIns="45720" rIns="91440" bIns="45720" rtlCol="0" anchor="t">
            <a:normAutofit fontScale="90000"/>
          </a:bodyPr>
          <a:lstStyle/>
          <a:p>
            <a:pPr>
              <a:lnSpc>
                <a:spcPct val="90000"/>
              </a:lnSpc>
            </a:pPr>
            <a:r>
              <a:rPr lang="en-US" sz="2400" dirty="0"/>
              <a:t>3.Salary breakup</a:t>
            </a:r>
            <a:br>
              <a:rPr lang="en-US" sz="2400" dirty="0"/>
            </a:br>
            <a:endParaRPr lang="en-US" sz="1700" dirty="0"/>
          </a:p>
          <a:p>
            <a:pPr>
              <a:lnSpc>
                <a:spcPct val="90000"/>
              </a:lnSpc>
            </a:pPr>
            <a:r>
              <a:rPr lang="en-US" sz="1400" b="0" dirty="0"/>
              <a:t>In this section, you manage monthly salary adjustments and additions for each employee.</a:t>
            </a:r>
          </a:p>
          <a:p>
            <a:pPr>
              <a:lnSpc>
                <a:spcPct val="90000"/>
              </a:lnSpc>
            </a:pPr>
            <a:r>
              <a:rPr lang="en-US" sz="1400" b="0" dirty="0" smtClean="0"/>
              <a:t/>
            </a:r>
            <a:br>
              <a:rPr lang="en-US" sz="1400" b="0" dirty="0" smtClean="0"/>
            </a:br>
            <a:endParaRPr lang="en-US" sz="1400" b="0" dirty="0"/>
          </a:p>
          <a:p>
            <a:pPr>
              <a:lnSpc>
                <a:spcPct val="90000"/>
              </a:lnSpc>
            </a:pPr>
            <a:r>
              <a:rPr lang="en-US" sz="1400" b="0" dirty="0"/>
              <a:t>A totals section displays the summarized view of all amounts (earnings, deductions, contributions</a:t>
            </a:r>
            <a:r>
              <a:rPr lang="en-US" sz="1400" b="0" dirty="0" smtClean="0"/>
              <a:t>).</a:t>
            </a:r>
            <a:br>
              <a:rPr lang="en-US" sz="1400" b="0" dirty="0" smtClean="0"/>
            </a:br>
            <a:endParaRPr lang="en-US" sz="1400" b="0" dirty="0"/>
          </a:p>
          <a:p>
            <a:pPr>
              <a:lnSpc>
                <a:spcPct val="90000"/>
              </a:lnSpc>
            </a:pPr>
            <a:r>
              <a:rPr lang="en-US" sz="1400" b="0" dirty="0"/>
              <a:t>Each employee also has an Annexure View, showing a detailed salary breakdown:</a:t>
            </a:r>
          </a:p>
          <a:p>
            <a:pPr>
              <a:lnSpc>
                <a:spcPct val="90000"/>
              </a:lnSpc>
            </a:pPr>
            <a:r>
              <a:rPr lang="en-US" sz="1400" b="0" dirty="0"/>
              <a:t>Earnings (Basic, HRA, Allowances)</a:t>
            </a:r>
          </a:p>
          <a:p>
            <a:pPr>
              <a:lnSpc>
                <a:spcPct val="90000"/>
              </a:lnSpc>
            </a:pPr>
            <a:r>
              <a:rPr lang="en-US" sz="1400" b="0" dirty="0"/>
              <a:t>Deductions (PF, TDS, PT)</a:t>
            </a:r>
          </a:p>
          <a:p>
            <a:pPr>
              <a:lnSpc>
                <a:spcPct val="90000"/>
              </a:lnSpc>
            </a:pPr>
            <a:r>
              <a:rPr lang="en-US" sz="1400" b="0" dirty="0"/>
              <a:t>Employer Contributions (PF, ESI, etc</a:t>
            </a:r>
            <a:r>
              <a:rPr lang="en-US" sz="1400" b="0" dirty="0" smtClean="0"/>
              <a:t>.)</a:t>
            </a:r>
            <a:br>
              <a:rPr lang="en-US" sz="1400" b="0" dirty="0" smtClean="0"/>
            </a:br>
            <a:endParaRPr lang="en-US" sz="1400" b="0" dirty="0"/>
          </a:p>
          <a:p>
            <a:pPr>
              <a:lnSpc>
                <a:spcPct val="90000"/>
              </a:lnSpc>
            </a:pPr>
            <a:r>
              <a:rPr lang="en-US" sz="1400" b="0" dirty="0"/>
              <a:t>This view helps verify the final net salary and total CTC for the current month</a:t>
            </a:r>
            <a:r>
              <a:rPr lang="en-US" sz="1400" b="0" dirty="0" smtClean="0"/>
              <a:t>.</a:t>
            </a:r>
            <a:br>
              <a:rPr lang="en-US" sz="1400" b="0" dirty="0" smtClean="0"/>
            </a:br>
            <a:r>
              <a:rPr lang="en-US" sz="1400" b="0" dirty="0" smtClean="0"/>
              <a:t/>
            </a:r>
            <a:br>
              <a:rPr lang="en-US" sz="1400" b="0" dirty="0" smtClean="0"/>
            </a:br>
            <a:r>
              <a:rPr lang="en-US" sz="1400" b="0" dirty="0" smtClean="0"/>
              <a:t>With annexure button we have add advance button if a employee want to take advance we can add here </a:t>
            </a:r>
            <a:br>
              <a:rPr lang="en-US" sz="1400" b="0" dirty="0" smtClean="0"/>
            </a:br>
            <a:r>
              <a:rPr lang="en-US" sz="1400" b="0" dirty="0" smtClean="0"/>
              <a:t/>
            </a:r>
            <a:br>
              <a:rPr lang="en-US" sz="1400" b="0" dirty="0" smtClean="0"/>
            </a:br>
            <a:r>
              <a:rPr lang="en-US" sz="1400" b="0" dirty="0" smtClean="0"/>
              <a:t>At top right we have a bar menu button in that we can see two options </a:t>
            </a:r>
            <a:br>
              <a:rPr lang="en-US" sz="1400" b="0" dirty="0" smtClean="0"/>
            </a:br>
            <a:r>
              <a:rPr lang="en-US" sz="1400" b="0" dirty="0" smtClean="0"/>
              <a:t>1. </a:t>
            </a:r>
            <a:r>
              <a:rPr lang="en-US" sz="1400" dirty="0" smtClean="0"/>
              <a:t>employee without compensation plan </a:t>
            </a:r>
            <a:r>
              <a:rPr lang="en-US" sz="1400" b="0" dirty="0" smtClean="0"/>
              <a:t>list there we can go assign plan easily </a:t>
            </a:r>
            <a:br>
              <a:rPr lang="en-US" sz="1400" b="0" dirty="0" smtClean="0"/>
            </a:br>
            <a:r>
              <a:rPr lang="en-US" sz="1400" b="0" dirty="0" smtClean="0"/>
              <a:t>2.</a:t>
            </a:r>
            <a:r>
              <a:rPr lang="en-US" sz="1400" dirty="0" smtClean="0"/>
              <a:t> Add Bonus   </a:t>
            </a:r>
            <a:r>
              <a:rPr lang="en-US" sz="1400" b="0" dirty="0" smtClean="0"/>
              <a:t>here we can add bonus for employees it will apply for all the employees </a:t>
            </a:r>
            <a:r>
              <a:rPr lang="en-US" sz="1700" b="0" dirty="0" smtClean="0"/>
              <a:t/>
            </a:r>
            <a:br>
              <a:rPr lang="en-US" sz="1700" b="0" dirty="0" smtClean="0"/>
            </a:br>
            <a:endParaRPr lang="en-US" sz="1700" b="0" dirty="0"/>
          </a:p>
        </p:txBody>
      </p:sp>
      <p:sp>
        <p:nvSpPr>
          <p:cNvPr id="3" name="Text Placeholder 2">
            <a:extLst>
              <a:ext uri="{FF2B5EF4-FFF2-40B4-BE49-F238E27FC236}">
                <a16:creationId xmlns:a16="http://schemas.microsoft.com/office/drawing/2014/main" xmlns="" id="{6D12DB18-F043-16F8-9B00-109042D13058}"/>
              </a:ext>
            </a:extLst>
          </p:cNvPr>
          <p:cNvSpPr>
            <a:spLocks noGrp="1"/>
          </p:cNvSpPr>
          <p:nvPr>
            <p:ph type="body" idx="1"/>
          </p:nvPr>
        </p:nvSpPr>
        <p:spPr>
          <a:xfrm flipV="1">
            <a:off x="161774" y="881742"/>
            <a:ext cx="1928283" cy="45719"/>
          </a:xfrm>
        </p:spPr>
        <p:txBody>
          <a:bodyPr vert="horz" lIns="91440" tIns="45720" rIns="91440" bIns="45720" rtlCol="0" anchor="t">
            <a:normAutofit fontScale="25000" lnSpcReduction="20000"/>
          </a:bodyPr>
          <a:lstStyle/>
          <a:p>
            <a:endParaRPr lang="en-US" sz="2200" i="1" kern="1200" dirty="0">
              <a:solidFill>
                <a:schemeClr val="tx1"/>
              </a:solidFill>
              <a:latin typeface="+mn-lt"/>
              <a:ea typeface="+mn-ea"/>
              <a:cs typeface="+mn-cs"/>
            </a:endParaRPr>
          </a:p>
        </p:txBody>
      </p:sp>
      <p:sp>
        <p:nvSpPr>
          <p:cNvPr id="21" name="Rectangle 20">
            <a:extLst>
              <a:ext uri="{FF2B5EF4-FFF2-40B4-BE49-F238E27FC236}">
                <a16:creationId xmlns:a16="http://schemas.microsoft.com/office/drawing/2014/main" xmlns="" id="{925CC04F-787A-49FA-9065-69EDF439F6C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creenshot of a computer&#10;&#10;AI-generated content may be incorrect.">
            <a:extLst>
              <a:ext uri="{FF2B5EF4-FFF2-40B4-BE49-F238E27FC236}">
                <a16:creationId xmlns:a16="http://schemas.microsoft.com/office/drawing/2014/main" xmlns="" id="{7BD2F25D-522D-34BB-9001-9B2F0A72BE5F}"/>
              </a:ext>
            </a:extLst>
          </p:cNvPr>
          <p:cNvPicPr>
            <a:picLocks noChangeAspect="1"/>
          </p:cNvPicPr>
          <p:nvPr/>
        </p:nvPicPr>
        <p:blipFill>
          <a:blip r:embed="rId2"/>
          <a:stretch>
            <a:fillRect/>
          </a:stretch>
        </p:blipFill>
        <p:spPr>
          <a:xfrm>
            <a:off x="6679415" y="508088"/>
            <a:ext cx="4990592" cy="2807208"/>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xmlns="" id="{998648C4-04BA-3999-9B81-33DEC253259C}"/>
              </a:ext>
            </a:extLst>
          </p:cNvPr>
          <p:cNvPicPr>
            <a:picLocks noChangeAspect="1"/>
          </p:cNvPicPr>
          <p:nvPr/>
        </p:nvPicPr>
        <p:blipFill>
          <a:blip r:embed="rId3"/>
          <a:stretch>
            <a:fillRect/>
          </a:stretch>
        </p:blipFill>
        <p:spPr>
          <a:xfrm>
            <a:off x="6687222" y="3532493"/>
            <a:ext cx="4990592" cy="2807208"/>
          </a:xfrm>
          <a:prstGeom prst="rect">
            <a:avLst/>
          </a:prstGeom>
        </p:spPr>
      </p:pic>
    </p:spTree>
    <p:extLst>
      <p:ext uri="{BB962C8B-B14F-4D97-AF65-F5344CB8AC3E}">
        <p14:creationId xmlns:p14="http://schemas.microsoft.com/office/powerpoint/2010/main" xmlns="" val="19532720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Freeform: Shape 19">
            <a:extLst>
              <a:ext uri="{FF2B5EF4-FFF2-40B4-BE49-F238E27FC236}">
                <a16:creationId xmlns:a16="http://schemas.microsoft.com/office/drawing/2014/main" xmlns="" id="{774A975B-A886-5202-0489-6965514A0D1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xmlns="" id="{EA67E988-5919-57BB-C7DE-D3EAD38A304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22" name="Rectangle 21">
            <a:extLst>
              <a:ext uri="{FF2B5EF4-FFF2-40B4-BE49-F238E27FC236}">
                <a16:creationId xmlns:a16="http://schemas.microsoft.com/office/drawing/2014/main" xmlns="" id="{FAF3766F-DEF3-4802-BB0D-7A18EDD9704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xmlns="" id="{81C0939A-6C7B-85BD-504E-0941B47BA306}"/>
              </a:ext>
            </a:extLst>
          </p:cNvPr>
          <p:cNvSpPr>
            <a:spLocks noGrp="1"/>
          </p:cNvSpPr>
          <p:nvPr>
            <p:ph type="title"/>
          </p:nvPr>
        </p:nvSpPr>
        <p:spPr>
          <a:xfrm>
            <a:off x="517870" y="978407"/>
            <a:ext cx="5021182" cy="3580530"/>
          </a:xfrm>
        </p:spPr>
        <p:txBody>
          <a:bodyPr vert="horz" lIns="91440" tIns="45720" rIns="91440" bIns="45720" rtlCol="0" anchor="t">
            <a:normAutofit fontScale="90000"/>
          </a:bodyPr>
          <a:lstStyle/>
          <a:p>
            <a:r>
              <a:rPr lang="en-GB" sz="1600" dirty="0" smtClean="0"/>
              <a:t>1. Add Advance </a:t>
            </a:r>
            <a:br>
              <a:rPr lang="en-GB" sz="1600" dirty="0" smtClean="0"/>
            </a:br>
            <a:r>
              <a:rPr lang="en-GB" sz="1600" b="0" dirty="0" smtClean="0"/>
              <a:t>1.F</a:t>
            </a:r>
            <a:r>
              <a:rPr lang="en-GB" sz="1600" b="0" dirty="0" smtClean="0"/>
              <a:t>irst we have to enter advance amount</a:t>
            </a:r>
            <a:br>
              <a:rPr lang="en-GB" sz="1600" b="0" dirty="0" smtClean="0"/>
            </a:br>
            <a:r>
              <a:rPr lang="en-GB" sz="1600" b="0" dirty="0" smtClean="0"/>
              <a:t>2. In how many months he can recover the amount add that number divided amount for each month also we can see </a:t>
            </a:r>
            <a:br>
              <a:rPr lang="en-GB" sz="1600" b="0" dirty="0" smtClean="0"/>
            </a:br>
            <a:r>
              <a:rPr lang="en-GB" sz="1600" b="0" dirty="0" smtClean="0"/>
              <a:t>3. applicable month we have we have two months option current month and next month </a:t>
            </a:r>
            <a:br>
              <a:rPr lang="en-GB" sz="1600" b="0" dirty="0" smtClean="0"/>
            </a:br>
            <a:r>
              <a:rPr lang="en-GB" sz="1600" b="0" dirty="0" smtClean="0"/>
              <a:t>if we select current month deduction </a:t>
            </a:r>
            <a:r>
              <a:rPr lang="en-GB" sz="1600" b="0" dirty="0" err="1" smtClean="0"/>
              <a:t>willl</a:t>
            </a:r>
            <a:r>
              <a:rPr lang="en-GB" sz="1600" b="0" dirty="0" smtClean="0"/>
              <a:t> start from current month </a:t>
            </a:r>
            <a:br>
              <a:rPr lang="en-GB" sz="1600" b="0" dirty="0" smtClean="0"/>
            </a:br>
            <a:r>
              <a:rPr lang="en-GB" sz="1600" b="0" dirty="0" smtClean="0"/>
              <a:t/>
            </a:r>
            <a:br>
              <a:rPr lang="en-GB" sz="1600" b="0" dirty="0" smtClean="0"/>
            </a:br>
            <a:r>
              <a:rPr lang="en-GB" sz="1600" dirty="0" smtClean="0"/>
              <a:t>2. Add Bonus </a:t>
            </a:r>
            <a:br>
              <a:rPr lang="en-GB" sz="1600" dirty="0" smtClean="0"/>
            </a:br>
            <a:r>
              <a:rPr lang="en-GB" sz="1600" b="0" dirty="0" smtClean="0"/>
              <a:t>1. For bonus also we have 3 options </a:t>
            </a:r>
            <a:br>
              <a:rPr lang="en-GB" sz="1600" b="0" dirty="0" smtClean="0"/>
            </a:br>
            <a:r>
              <a:rPr lang="en-GB" sz="1600" b="0" dirty="0" smtClean="0"/>
              <a:t> </a:t>
            </a:r>
            <a:r>
              <a:rPr lang="en-GB" sz="1600" b="0" dirty="0" smtClean="0"/>
              <a:t>  a. We can add fixed amount </a:t>
            </a:r>
            <a:br>
              <a:rPr lang="en-GB" sz="1600" b="0" dirty="0" smtClean="0"/>
            </a:br>
            <a:r>
              <a:rPr lang="en-GB" sz="1600" b="0" dirty="0" smtClean="0"/>
              <a:t>   b. We can add no of monthly salary  if we add no as 2                  </a:t>
            </a:r>
            <a:r>
              <a:rPr lang="en-GB" sz="1600" b="0" dirty="0" smtClean="0"/>
              <a:t> </a:t>
            </a:r>
            <a:r>
              <a:rPr lang="en-GB" sz="1600" b="0" dirty="0" smtClean="0"/>
              <a:t>                                                                                                                                                         double salary of that employee will given</a:t>
            </a:r>
            <a:br>
              <a:rPr lang="en-GB" sz="1600" b="0" dirty="0" smtClean="0"/>
            </a:br>
            <a:r>
              <a:rPr lang="en-GB" sz="1600" b="0" dirty="0" smtClean="0"/>
              <a:t>   c. We can add percentage according to percentage that amount will added  </a:t>
            </a:r>
            <a:r>
              <a:rPr lang="en-GB" sz="1600" dirty="0" smtClean="0"/>
              <a:t/>
            </a:r>
            <a:br>
              <a:rPr lang="en-GB" sz="1600" dirty="0" smtClean="0"/>
            </a:br>
            <a:r>
              <a:rPr lang="en-GB" sz="1600" dirty="0" smtClean="0"/>
              <a:t/>
            </a:r>
            <a:br>
              <a:rPr lang="en-GB" sz="1600" dirty="0" smtClean="0"/>
            </a:br>
            <a:r>
              <a:rPr lang="en-GB" sz="1600" dirty="0" smtClean="0"/>
              <a:t/>
            </a:r>
            <a:br>
              <a:rPr lang="en-GB" sz="1600" dirty="0" smtClean="0"/>
            </a:br>
            <a:r>
              <a:rPr lang="en-GB" sz="1600" dirty="0" smtClean="0"/>
              <a:t/>
            </a:r>
            <a:br>
              <a:rPr lang="en-GB" sz="1600" dirty="0" smtClean="0"/>
            </a:br>
            <a:r>
              <a:rPr lang="en-GB" sz="1600" dirty="0" smtClean="0"/>
              <a:t/>
            </a:r>
            <a:br>
              <a:rPr lang="en-GB" sz="1600" dirty="0" smtClean="0"/>
            </a:br>
            <a:r>
              <a:rPr lang="en-GB" sz="1600" dirty="0" smtClean="0"/>
              <a:t>  </a:t>
            </a:r>
            <a:endParaRPr lang="en-US" sz="1600" dirty="0"/>
          </a:p>
        </p:txBody>
      </p:sp>
      <p:sp>
        <p:nvSpPr>
          <p:cNvPr id="3" name="Text Placeholder 2">
            <a:extLst>
              <a:ext uri="{FF2B5EF4-FFF2-40B4-BE49-F238E27FC236}">
                <a16:creationId xmlns:a16="http://schemas.microsoft.com/office/drawing/2014/main" xmlns="" id="{CFD255DA-E6DF-ED44-053F-D45803B0EDCA}"/>
              </a:ext>
            </a:extLst>
          </p:cNvPr>
          <p:cNvSpPr>
            <a:spLocks noGrp="1"/>
          </p:cNvSpPr>
          <p:nvPr>
            <p:ph type="body" idx="1"/>
          </p:nvPr>
        </p:nvSpPr>
        <p:spPr>
          <a:xfrm>
            <a:off x="6652366" y="971398"/>
            <a:ext cx="5040785" cy="2333778"/>
          </a:xfrm>
        </p:spPr>
        <p:txBody>
          <a:bodyPr vert="horz" lIns="91440" tIns="45720" rIns="91440" bIns="45720" rtlCol="0" anchor="t">
            <a:normAutofit/>
          </a:bodyPr>
          <a:lstStyle/>
          <a:p>
            <a:endParaRPr lang="en-US" i="1" kern="1200">
              <a:solidFill>
                <a:schemeClr val="tx1"/>
              </a:solidFill>
              <a:latin typeface="+mn-lt"/>
              <a:ea typeface="+mn-ea"/>
              <a:cs typeface="+mn-cs"/>
            </a:endParaRPr>
          </a:p>
        </p:txBody>
      </p:sp>
      <p:sp>
        <p:nvSpPr>
          <p:cNvPr id="23" name="Rectangle 22">
            <a:extLst>
              <a:ext uri="{FF2B5EF4-FFF2-40B4-BE49-F238E27FC236}">
                <a16:creationId xmlns:a16="http://schemas.microsoft.com/office/drawing/2014/main" xmlns="" id="{B2C335F7-F61C-4EB4-80F2-4B1438FE66B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xmlns="" id="{F1189494-2B67-46D2-93D6-A122A09BF6B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6662168" y="611650"/>
            <a:ext cx="5021183"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computer&#10;&#10;AI-generated content may be incorrect.">
            <a:extLst>
              <a:ext uri="{FF2B5EF4-FFF2-40B4-BE49-F238E27FC236}">
                <a16:creationId xmlns:a16="http://schemas.microsoft.com/office/drawing/2014/main" xmlns="" id="{E6DEA691-AB0F-9F4E-8BC9-9337D8634BC9}"/>
              </a:ext>
            </a:extLst>
          </p:cNvPr>
          <p:cNvPicPr>
            <a:picLocks noChangeAspect="1"/>
          </p:cNvPicPr>
          <p:nvPr/>
        </p:nvPicPr>
        <p:blipFill>
          <a:blip r:embed="rId2"/>
          <a:srcRect t="3469" r="-1" b="-1"/>
          <a:stretch>
            <a:fillRect/>
          </a:stretch>
        </p:blipFill>
        <p:spPr>
          <a:xfrm>
            <a:off x="6642626" y="581115"/>
            <a:ext cx="5030061" cy="2731266"/>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xmlns="" id="{B41327D3-CA9D-088C-64E9-6F88D637CDBA}"/>
              </a:ext>
            </a:extLst>
          </p:cNvPr>
          <p:cNvPicPr>
            <a:picLocks noChangeAspect="1"/>
          </p:cNvPicPr>
          <p:nvPr/>
        </p:nvPicPr>
        <p:blipFill>
          <a:blip r:embed="rId3"/>
          <a:srcRect l="22644" r="26533" b="-3"/>
          <a:stretch>
            <a:fillRect/>
          </a:stretch>
        </p:blipFill>
        <p:spPr>
          <a:xfrm>
            <a:off x="537412" y="4937760"/>
            <a:ext cx="5173150" cy="1554808"/>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xmlns="" id="{E8C2D6A6-52D2-F029-4A60-6A81F7B19018}"/>
              </a:ext>
            </a:extLst>
          </p:cNvPr>
          <p:cNvPicPr>
            <a:picLocks noChangeAspect="1"/>
          </p:cNvPicPr>
          <p:nvPr/>
        </p:nvPicPr>
        <p:blipFill>
          <a:blip r:embed="rId4"/>
          <a:srcRect l="21549" r="30215"/>
          <a:stretch>
            <a:fillRect/>
          </a:stretch>
        </p:blipFill>
        <p:spPr>
          <a:xfrm>
            <a:off x="6675876" y="3758512"/>
            <a:ext cx="5001974" cy="2745643"/>
          </a:xfrm>
          <a:prstGeom prst="rect">
            <a:avLst/>
          </a:prstGeom>
        </p:spPr>
      </p:pic>
    </p:spTree>
    <p:extLst>
      <p:ext uri="{BB962C8B-B14F-4D97-AF65-F5344CB8AC3E}">
        <p14:creationId xmlns:p14="http://schemas.microsoft.com/office/powerpoint/2010/main" xmlns="" val="29620616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4A99094-A524-8CBA-E244-51554D1774C5}"/>
              </a:ext>
            </a:extLst>
          </p:cNvPr>
          <p:cNvSpPr>
            <a:spLocks noGrp="1"/>
          </p:cNvSpPr>
          <p:nvPr>
            <p:ph type="title"/>
          </p:nvPr>
        </p:nvSpPr>
        <p:spPr>
          <a:xfrm>
            <a:off x="521208" y="230786"/>
            <a:ext cx="5020056" cy="5036158"/>
          </a:xfrm>
        </p:spPr>
        <p:txBody>
          <a:bodyPr>
            <a:normAutofit/>
          </a:bodyPr>
          <a:lstStyle/>
          <a:p>
            <a:r>
              <a:rPr lang="en-US" dirty="0"/>
              <a:t/>
            </a:r>
            <a:br>
              <a:rPr lang="en-US" dirty="0"/>
            </a:br>
            <a:r>
              <a:rPr lang="en-US" sz="2400" dirty="0">
                <a:ea typeface="+mj-lt"/>
                <a:cs typeface="+mj-lt"/>
              </a:rPr>
              <a:t>4. Salary Details</a:t>
            </a:r>
            <a:endParaRPr lang="en-US" sz="2400" dirty="0"/>
          </a:p>
          <a:p>
            <a:r>
              <a:rPr lang="en-US" sz="1400" b="0" dirty="0">
                <a:ea typeface="+mj-lt"/>
                <a:cs typeface="+mj-lt"/>
              </a:rPr>
              <a:t>This is the review and reporting section</a:t>
            </a:r>
            <a:r>
              <a:rPr lang="en-US" sz="1400" b="0" dirty="0" smtClean="0">
                <a:ea typeface="+mj-lt"/>
                <a:cs typeface="+mj-lt"/>
              </a:rPr>
              <a:t>.</a:t>
            </a:r>
            <a:br>
              <a:rPr lang="en-US" sz="1400" b="0" dirty="0" smtClean="0">
                <a:ea typeface="+mj-lt"/>
                <a:cs typeface="+mj-lt"/>
              </a:rPr>
            </a:br>
            <a:endParaRPr lang="en-US" sz="1400" b="0" dirty="0"/>
          </a:p>
          <a:p>
            <a:r>
              <a:rPr lang="en-US" sz="1400" b="0" dirty="0">
                <a:ea typeface="+mj-lt"/>
                <a:cs typeface="+mj-lt"/>
              </a:rPr>
              <a:t>You can view salary details for all employees in one place.</a:t>
            </a:r>
            <a:endParaRPr lang="en-US" sz="1400" b="0" dirty="0"/>
          </a:p>
          <a:p>
            <a:r>
              <a:rPr lang="en-US" sz="1400" b="0" dirty="0">
                <a:ea typeface="+mj-lt"/>
                <a:cs typeface="+mj-lt"/>
              </a:rPr>
              <a:t>here we can save selected person data and generate a bank report in </a:t>
            </a:r>
            <a:r>
              <a:rPr lang="en-US" sz="1400" b="0" dirty="0" err="1">
                <a:ea typeface="+mj-lt"/>
                <a:cs typeface="+mj-lt"/>
              </a:rPr>
              <a:t>pdf</a:t>
            </a:r>
            <a:r>
              <a:rPr lang="en-US" sz="1400" b="0" dirty="0">
                <a:ea typeface="+mj-lt"/>
                <a:cs typeface="+mj-lt"/>
              </a:rPr>
              <a:t> and excel both </a:t>
            </a:r>
            <a:r>
              <a:rPr lang="en-US" sz="1400" b="0" dirty="0" smtClean="0">
                <a:ea typeface="+mj-lt"/>
                <a:cs typeface="+mj-lt"/>
              </a:rPr>
              <a:t>format</a:t>
            </a:r>
            <a:r>
              <a:rPr lang="en-US" sz="1400" b="0" dirty="0">
                <a:ea typeface="+mj-lt"/>
                <a:cs typeface="+mj-lt"/>
              </a:rPr>
              <a:t> </a:t>
            </a:r>
            <a:r>
              <a:rPr lang="en-US" sz="1400" b="0" dirty="0" smtClean="0">
                <a:ea typeface="+mj-lt"/>
                <a:cs typeface="+mj-lt"/>
              </a:rPr>
              <a:t>one </a:t>
            </a:r>
            <a:r>
              <a:rPr lang="en-US" sz="1400" b="0" dirty="0">
                <a:ea typeface="+mj-lt"/>
                <a:cs typeface="+mj-lt"/>
              </a:rPr>
              <a:t>pdf for all employees </a:t>
            </a:r>
            <a:r>
              <a:rPr lang="en-US" sz="1400" b="0" dirty="0" smtClean="0">
                <a:ea typeface="+mj-lt"/>
                <a:cs typeface="+mj-lt"/>
              </a:rPr>
              <a:t>data</a:t>
            </a:r>
            <a:r>
              <a:rPr lang="en-US" sz="1400" b="0" dirty="0">
                <a:ea typeface="+mj-lt"/>
                <a:cs typeface="+mj-lt"/>
              </a:rPr>
              <a:t> </a:t>
            </a:r>
            <a:r>
              <a:rPr lang="en-US" sz="1400" b="0" dirty="0" smtClean="0">
                <a:ea typeface="+mj-lt"/>
                <a:cs typeface="+mj-lt"/>
              </a:rPr>
              <a:t>save </a:t>
            </a:r>
            <a:r>
              <a:rPr lang="en-US" sz="1400" b="0" dirty="0">
                <a:ea typeface="+mj-lt"/>
                <a:cs typeface="+mj-lt"/>
              </a:rPr>
              <a:t>data saves </a:t>
            </a:r>
            <a:r>
              <a:rPr lang="en-US" sz="1400" b="0" dirty="0" smtClean="0">
                <a:ea typeface="+mj-lt"/>
                <a:cs typeface="+mj-lt"/>
              </a:rPr>
              <a:t>data</a:t>
            </a:r>
            <a:br>
              <a:rPr lang="en-US" sz="1400" b="0" dirty="0" smtClean="0">
                <a:ea typeface="+mj-lt"/>
                <a:cs typeface="+mj-lt"/>
              </a:rPr>
            </a:br>
            <a:r>
              <a:rPr lang="en-US" sz="1400" b="0" dirty="0" smtClean="0">
                <a:ea typeface="+mj-lt"/>
                <a:cs typeface="+mj-lt"/>
              </a:rPr>
              <a:t/>
            </a:r>
            <a:br>
              <a:rPr lang="en-US" sz="1400" b="0" dirty="0" smtClean="0">
                <a:ea typeface="+mj-lt"/>
                <a:cs typeface="+mj-lt"/>
              </a:rPr>
            </a:br>
            <a:r>
              <a:rPr lang="en-US" sz="1400" b="0" dirty="0" smtClean="0">
                <a:ea typeface="+mj-lt"/>
                <a:cs typeface="+mj-lt"/>
              </a:rPr>
              <a:t>T</a:t>
            </a:r>
            <a:r>
              <a:rPr lang="en-US" sz="1400" b="0" dirty="0" smtClean="0">
                <a:ea typeface="+mj-lt"/>
                <a:cs typeface="+mj-lt"/>
              </a:rPr>
              <a:t>hat saved data of employee we can see that data in salary statement </a:t>
            </a:r>
            <a:endParaRPr lang="en-US" sz="1400" b="0" dirty="0"/>
          </a:p>
        </p:txBody>
      </p:sp>
      <p:sp>
        <p:nvSpPr>
          <p:cNvPr id="3" name="Text Placeholder 2">
            <a:extLst>
              <a:ext uri="{FF2B5EF4-FFF2-40B4-BE49-F238E27FC236}">
                <a16:creationId xmlns:a16="http://schemas.microsoft.com/office/drawing/2014/main" xmlns="" id="{02C06C65-2321-F74F-B95A-41EDA34BC2BB}"/>
              </a:ext>
            </a:extLst>
          </p:cNvPr>
          <p:cNvSpPr>
            <a:spLocks noGrp="1"/>
          </p:cNvSpPr>
          <p:nvPr>
            <p:ph type="body" idx="1"/>
          </p:nvPr>
        </p:nvSpPr>
        <p:spPr/>
        <p:txBody>
          <a:bodyPr/>
          <a:lstStyle/>
          <a:p>
            <a:endParaRPr lang="en-US" dirty="0"/>
          </a:p>
        </p:txBody>
      </p:sp>
      <p:pic>
        <p:nvPicPr>
          <p:cNvPr id="4" name="Picture 3" descr="A screenshot of a computer&#10;&#10;AI-generated content may be incorrect.">
            <a:extLst>
              <a:ext uri="{FF2B5EF4-FFF2-40B4-BE49-F238E27FC236}">
                <a16:creationId xmlns:a16="http://schemas.microsoft.com/office/drawing/2014/main" xmlns="" id="{FFBD04AB-AEAA-7A71-C412-DEF69365F17E}"/>
              </a:ext>
            </a:extLst>
          </p:cNvPr>
          <p:cNvPicPr>
            <a:picLocks noChangeAspect="1"/>
          </p:cNvPicPr>
          <p:nvPr/>
        </p:nvPicPr>
        <p:blipFill>
          <a:blip r:embed="rId2"/>
          <a:srcRect l="768" t="342" r="-768" b="-685"/>
          <a:stretch>
            <a:fillRect/>
          </a:stretch>
        </p:blipFill>
        <p:spPr>
          <a:xfrm>
            <a:off x="6484189" y="375484"/>
            <a:ext cx="4643896" cy="2670886"/>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xmlns="" id="{D5793503-8480-3694-5B4C-A1432D2342E4}"/>
              </a:ext>
            </a:extLst>
          </p:cNvPr>
          <p:cNvPicPr>
            <a:picLocks noChangeAspect="1"/>
          </p:cNvPicPr>
          <p:nvPr/>
        </p:nvPicPr>
        <p:blipFill>
          <a:blip r:embed="rId3"/>
          <a:stretch>
            <a:fillRect/>
          </a:stretch>
        </p:blipFill>
        <p:spPr>
          <a:xfrm>
            <a:off x="6487783" y="3427078"/>
            <a:ext cx="4629511" cy="2713975"/>
          </a:xfrm>
          <a:prstGeom prst="rect">
            <a:avLst/>
          </a:prstGeom>
        </p:spPr>
      </p:pic>
    </p:spTree>
    <p:extLst>
      <p:ext uri="{BB962C8B-B14F-4D97-AF65-F5344CB8AC3E}">
        <p14:creationId xmlns:p14="http://schemas.microsoft.com/office/powerpoint/2010/main" xmlns="" val="34942328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2514" y="704088"/>
            <a:ext cx="4990012" cy="706701"/>
          </a:xfrm>
        </p:spPr>
        <p:txBody>
          <a:bodyPr>
            <a:normAutofit/>
          </a:bodyPr>
          <a:lstStyle/>
          <a:p>
            <a:r>
              <a:rPr lang="en-GB" sz="2400" dirty="0" smtClean="0"/>
              <a:t>Salary statement</a:t>
            </a:r>
            <a:endParaRPr lang="en-US" sz="2400" dirty="0"/>
          </a:p>
        </p:txBody>
      </p:sp>
      <p:sp>
        <p:nvSpPr>
          <p:cNvPr id="3" name="Text Placeholder 2"/>
          <p:cNvSpPr>
            <a:spLocks noGrp="1"/>
          </p:cNvSpPr>
          <p:nvPr>
            <p:ph type="body" idx="1"/>
          </p:nvPr>
        </p:nvSpPr>
        <p:spPr>
          <a:xfrm>
            <a:off x="521208" y="1136469"/>
            <a:ext cx="5020056" cy="1802674"/>
          </a:xfrm>
        </p:spPr>
        <p:txBody>
          <a:bodyPr>
            <a:noAutofit/>
          </a:bodyPr>
          <a:lstStyle/>
          <a:p>
            <a:r>
              <a:rPr lang="en-GB" sz="1400" i="0" dirty="0" smtClean="0">
                <a:solidFill>
                  <a:schemeClr val="tx1"/>
                </a:solidFill>
              </a:rPr>
              <a:t> </a:t>
            </a:r>
            <a:r>
              <a:rPr lang="en-GB" sz="1400" i="0" dirty="0" smtClean="0">
                <a:solidFill>
                  <a:schemeClr val="tx1"/>
                </a:solidFill>
              </a:rPr>
              <a:t>				</a:t>
            </a:r>
          </a:p>
          <a:p>
            <a:endParaRPr lang="en-GB" sz="1400" i="0" dirty="0" smtClean="0">
              <a:solidFill>
                <a:schemeClr val="tx1"/>
              </a:solidFill>
            </a:endParaRPr>
          </a:p>
          <a:p>
            <a:endParaRPr lang="en-GB" sz="1400" i="0" dirty="0" smtClean="0">
              <a:solidFill>
                <a:schemeClr val="tx1"/>
              </a:solidFill>
            </a:endParaRPr>
          </a:p>
          <a:p>
            <a:endParaRPr lang="en-GB" sz="1400" i="0" dirty="0" smtClean="0">
              <a:solidFill>
                <a:schemeClr val="tx1"/>
              </a:solidFill>
            </a:endParaRPr>
          </a:p>
          <a:p>
            <a:endParaRPr lang="en-GB" sz="1400" i="0" dirty="0" smtClean="0">
              <a:solidFill>
                <a:schemeClr val="tx1"/>
              </a:solidFill>
            </a:endParaRPr>
          </a:p>
          <a:p>
            <a:r>
              <a:rPr lang="en-GB" sz="1400" i="0" dirty="0" smtClean="0">
                <a:solidFill>
                  <a:schemeClr val="tx1"/>
                </a:solidFill>
              </a:rPr>
              <a:t>Here we can select the month and data all which we have saved we can see there at last column of the table we have an button as enable </a:t>
            </a:r>
            <a:br>
              <a:rPr lang="en-GB" sz="1400" i="0" dirty="0" smtClean="0">
                <a:solidFill>
                  <a:schemeClr val="tx1"/>
                </a:solidFill>
              </a:rPr>
            </a:br>
            <a:r>
              <a:rPr lang="en-GB" sz="1400" i="0" dirty="0" smtClean="0">
                <a:solidFill>
                  <a:schemeClr val="tx1"/>
                </a:solidFill>
              </a:rPr>
              <a:t>if we enable that button download payslip option we can see for that </a:t>
            </a:r>
            <a:r>
              <a:rPr lang="en-GB" sz="1400" i="0" dirty="0" err="1" smtClean="0">
                <a:solidFill>
                  <a:schemeClr val="tx1"/>
                </a:solidFill>
              </a:rPr>
              <a:t>perticular</a:t>
            </a:r>
            <a:r>
              <a:rPr lang="en-GB" sz="1400" i="0" dirty="0" smtClean="0">
                <a:solidFill>
                  <a:schemeClr val="tx1"/>
                </a:solidFill>
              </a:rPr>
              <a:t> employee download payslip option </a:t>
            </a:r>
            <a:endParaRPr lang="en-US" sz="1400" i="0" dirty="0">
              <a:solidFill>
                <a:schemeClr val="tx1"/>
              </a:solidFill>
            </a:endParaRPr>
          </a:p>
        </p:txBody>
      </p:sp>
      <p:pic>
        <p:nvPicPr>
          <p:cNvPr id="4" name="Picture 3" descr="Screenshot (187).png"/>
          <p:cNvPicPr>
            <a:picLocks noChangeAspect="1"/>
          </p:cNvPicPr>
          <p:nvPr/>
        </p:nvPicPr>
        <p:blipFill>
          <a:blip r:embed="rId2"/>
          <a:stretch>
            <a:fillRect/>
          </a:stretch>
        </p:blipFill>
        <p:spPr>
          <a:xfrm>
            <a:off x="5812971" y="3762104"/>
            <a:ext cx="6152606" cy="2782388"/>
          </a:xfrm>
          <a:prstGeom prst="rect">
            <a:avLst/>
          </a:prstGeom>
        </p:spPr>
      </p:pic>
      <p:pic>
        <p:nvPicPr>
          <p:cNvPr id="5" name="Picture 4" descr="Screenshot (190).png"/>
          <p:cNvPicPr>
            <a:picLocks noChangeAspect="1"/>
          </p:cNvPicPr>
          <p:nvPr/>
        </p:nvPicPr>
        <p:blipFill>
          <a:blip r:embed="rId3"/>
          <a:stretch>
            <a:fillRect/>
          </a:stretch>
        </p:blipFill>
        <p:spPr>
          <a:xfrm>
            <a:off x="5773782" y="471935"/>
            <a:ext cx="6165669" cy="310728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1208" y="978408"/>
            <a:ext cx="5020056" cy="3933226"/>
          </a:xfrm>
        </p:spPr>
        <p:txBody>
          <a:bodyPr>
            <a:normAutofit/>
          </a:bodyPr>
          <a:lstStyle/>
          <a:p>
            <a:r>
              <a:rPr lang="en-GB" sz="2800" dirty="0" err="1" smtClean="0"/>
              <a:t>payrollsummary</a:t>
            </a:r>
            <a:endParaRPr lang="en-US" sz="2800" dirty="0"/>
          </a:p>
        </p:txBody>
      </p:sp>
      <p:sp>
        <p:nvSpPr>
          <p:cNvPr id="3" name="Text Placeholder 2"/>
          <p:cNvSpPr>
            <a:spLocks noGrp="1"/>
          </p:cNvSpPr>
          <p:nvPr>
            <p:ph type="body" idx="1"/>
          </p:nvPr>
        </p:nvSpPr>
        <p:spPr>
          <a:xfrm>
            <a:off x="521208" y="1711234"/>
            <a:ext cx="5020056" cy="600892"/>
          </a:xfrm>
        </p:spPr>
        <p:txBody>
          <a:bodyPr>
            <a:normAutofit/>
          </a:bodyPr>
          <a:lstStyle/>
          <a:p>
            <a:r>
              <a:rPr lang="en-GB" sz="1800" i="0" dirty="0" smtClean="0">
                <a:solidFill>
                  <a:schemeClr val="tx1"/>
                </a:solidFill>
              </a:rPr>
              <a:t>Here </a:t>
            </a:r>
            <a:r>
              <a:rPr lang="en-GB" sz="1800" i="0" dirty="0" err="1" smtClean="0">
                <a:solidFill>
                  <a:schemeClr val="tx1"/>
                </a:solidFill>
              </a:rPr>
              <a:t>emloyee</a:t>
            </a:r>
            <a:r>
              <a:rPr lang="en-GB" sz="1800" i="0" dirty="0" smtClean="0">
                <a:solidFill>
                  <a:schemeClr val="tx1"/>
                </a:solidFill>
              </a:rPr>
              <a:t> can download payslip</a:t>
            </a:r>
            <a:endParaRPr lang="en-US" sz="1800" i="0" dirty="0">
              <a:solidFill>
                <a:schemeClr val="tx1"/>
              </a:solidFill>
            </a:endParaRPr>
          </a:p>
        </p:txBody>
      </p:sp>
      <p:pic>
        <p:nvPicPr>
          <p:cNvPr id="4" name="Picture 3" descr="Screenshot (189).png"/>
          <p:cNvPicPr>
            <a:picLocks noChangeAspect="1"/>
          </p:cNvPicPr>
          <p:nvPr/>
        </p:nvPicPr>
        <p:blipFill>
          <a:blip r:embed="rId2"/>
          <a:stretch>
            <a:fillRect/>
          </a:stretch>
        </p:blipFill>
        <p:spPr>
          <a:xfrm>
            <a:off x="5917475" y="613954"/>
            <a:ext cx="6074228" cy="544721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0213" y="926157"/>
            <a:ext cx="5020056" cy="4288536"/>
          </a:xfrm>
        </p:spPr>
        <p:txBody>
          <a:bodyPr>
            <a:normAutofit/>
          </a:bodyPr>
          <a:lstStyle/>
          <a:p>
            <a:r>
              <a:rPr lang="en-GB" sz="2800" dirty="0" smtClean="0"/>
              <a:t>Final payslip</a:t>
            </a:r>
            <a:endParaRPr lang="en-US" sz="2800" dirty="0"/>
          </a:p>
        </p:txBody>
      </p:sp>
      <p:sp>
        <p:nvSpPr>
          <p:cNvPr id="3" name="Text Placeholder 2"/>
          <p:cNvSpPr>
            <a:spLocks noGrp="1"/>
          </p:cNvSpPr>
          <p:nvPr>
            <p:ph type="body" idx="1"/>
          </p:nvPr>
        </p:nvSpPr>
        <p:spPr/>
        <p:txBody>
          <a:bodyPr/>
          <a:lstStyle/>
          <a:p>
            <a:endParaRPr lang="en-US" dirty="0"/>
          </a:p>
        </p:txBody>
      </p:sp>
      <p:pic>
        <p:nvPicPr>
          <p:cNvPr id="4" name="Picture 3" descr="Screenshot (191).png"/>
          <p:cNvPicPr>
            <a:picLocks noChangeAspect="1"/>
          </p:cNvPicPr>
          <p:nvPr/>
        </p:nvPicPr>
        <p:blipFill>
          <a:blip r:embed="rId2"/>
          <a:stretch>
            <a:fillRect/>
          </a:stretch>
        </p:blipFill>
        <p:spPr>
          <a:xfrm>
            <a:off x="5773785" y="352697"/>
            <a:ext cx="6152604" cy="5995851"/>
          </a:xfrm>
          <a:prstGeom prst="rect">
            <a:avLst/>
          </a:prstGeom>
        </p:spPr>
      </p:pic>
    </p:spTree>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GestaltVTI" id="{4F87C71D-53D1-4B71-BF97-FD0EA4B25665}" vid="{A110AFC4-8D8A-4C02-8885-7BA370B379B5}"/>
    </a:ext>
  </a:extLst>
</a:theme>
</file>

<file path=docProps/app.xml><?xml version="1.0" encoding="utf-8"?>
<Properties xmlns="http://schemas.openxmlformats.org/officeDocument/2006/extended-properties" xmlns:vt="http://schemas.openxmlformats.org/officeDocument/2006/docPropsVTypes">
  <Template>office theme</Template>
  <TotalTime>82</TotalTime>
  <Words>148</Words>
  <Application>Microsoft Office PowerPoint</Application>
  <PresentationFormat>Custom</PresentationFormat>
  <Paragraphs>49</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GestaltVTI</vt:lpstr>
      <vt:lpstr>Login using Admin credentials</vt:lpstr>
      <vt:lpstr>Choose the compensation option </vt:lpstr>
      <vt:lpstr>you will have two options button here</vt:lpstr>
      <vt:lpstr>1. Create Compensation Plan In this section, you design and configure salary structure plans for employees. You can define components such as: 1.Allowances (e.g., HRA, Travel, other, etc.) 2.PF and Medical Contributions 3.Statutory Components (like ESI, TDS, PT, etc.) 4.Other components After entering all these fields and proceeds  here for 3 and 4 components have include in ctc checkbox if we click checkbox as yes then it will calculate amount in net salary otherwise it will show amount in others   Once finalized, click “Save Plan” to store the compensation plan for future assignments.</vt:lpstr>
      <vt:lpstr>Preview of compensation  </vt:lpstr>
      <vt:lpstr>2. Assign Compensation  This section is used to assign the created compensation plan to employees.  You can assign plans individually (per employee) or by department (bulk assignment).  Once a plan is assigned, it cannot be reassigned — ensuring data consistency and avoiding duplication.</vt:lpstr>
      <vt:lpstr>3.Salary breakup  In this section, you manage monthly salary adjustments and additions for each employee.   A totals section displays the summarized view of all amounts (earnings, deductions, contributions).  Each employee also has an Annexure View, showing a detailed salary breakdown: Earnings (Basic, HRA, Allowances) Deductions (PF, TDS, PT) Employer Contributions (PF, ESI, etc.)  This view helps verify the final net salary and total CTC for the current month.  With annexure button we have add advance button if a employee want to take advance we can add here   At top right we have a bar menu button in that we can see two options  1. employee without compensation plan list there we can go assign plan easily  2. Add Bonus   here we can add bonus for employees it will apply for all the employees  </vt:lpstr>
      <vt:lpstr>1. Add Advance  1.First we have to enter advance amount 2. In how many months he can recover the amount add that number divided amount for each month also we can see  3. applicable month we have we have two months option current month and next month  if we select current month deduction willl start from current month   2. Add Bonus  1. For bonus also we have 3 options     a. We can add fixed amount     b. We can add no of monthly salary  if we add no as 2                                                                                                                                                                            double salary of that employee will given    c. We can add percentage according to percentage that amount will added         </vt:lpstr>
      <vt:lpstr> 4. Salary Details This is the review and reporting section.  You can view salary details for all employees in one place. here we can save selected person data and generate a bank report in pdf and excel both format one pdf for all employees data save data saves data  That saved data of employee we can see that data in salary statement </vt:lpstr>
      <vt:lpstr>Salary statement</vt:lpstr>
      <vt:lpstr>payrollsummary</vt:lpstr>
      <vt:lpstr>Final payslip</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Login using Admin credentials</dc:title>
  <dc:creator>DELL</dc:creator>
  <cp:lastModifiedBy>DELL</cp:lastModifiedBy>
  <cp:revision>200</cp:revision>
  <dcterms:created xsi:type="dcterms:W3CDTF">2025-12-12T19:07:21Z</dcterms:created>
  <dcterms:modified xsi:type="dcterms:W3CDTF">2025-12-13T05:14:39Z</dcterms:modified>
</cp:coreProperties>
</file>